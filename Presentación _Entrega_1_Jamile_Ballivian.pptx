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84" r:id="rId5"/>
    <p:sldId id="379" r:id="rId6"/>
    <p:sldId id="329" r:id="rId7"/>
    <p:sldId id="405" r:id="rId8"/>
    <p:sldId id="385" r:id="rId9"/>
    <p:sldId id="404" r:id="rId10"/>
    <p:sldId id="361" r:id="rId11"/>
    <p:sldId id="362" r:id="rId12"/>
    <p:sldId id="283" r:id="rId13"/>
    <p:sldId id="389" r:id="rId14"/>
    <p:sldId id="387" r:id="rId15"/>
    <p:sldId id="390" r:id="rId16"/>
    <p:sldId id="388" r:id="rId17"/>
    <p:sldId id="391" r:id="rId18"/>
    <p:sldId id="392" r:id="rId19"/>
    <p:sldId id="381" r:id="rId20"/>
    <p:sldId id="393" r:id="rId21"/>
    <p:sldId id="394" r:id="rId22"/>
    <p:sldId id="412" r:id="rId23"/>
    <p:sldId id="399" r:id="rId24"/>
    <p:sldId id="400" r:id="rId25"/>
    <p:sldId id="395" r:id="rId26"/>
    <p:sldId id="396" r:id="rId27"/>
    <p:sldId id="397" r:id="rId28"/>
    <p:sldId id="380" r:id="rId29"/>
    <p:sldId id="378" r:id="rId30"/>
  </p:sldIdLst>
  <p:sldSz cx="12192000" cy="6858000"/>
  <p:notesSz cx="9388475" cy="7102475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CIONES" id="{BB928E10-A69C-42F6-8B07-A2FEAC067766}">
          <p14:sldIdLst/>
        </p14:section>
        <p14:section name="INICIADORES PARA DIAPOSITIVAS" id="{ACC24B29-0CC7-491A-A98A-CF7CBDBE501E}">
          <p14:sldIdLst>
            <p14:sldId id="384"/>
            <p14:sldId id="379"/>
            <p14:sldId id="329"/>
            <p14:sldId id="405"/>
            <p14:sldId id="385"/>
            <p14:sldId id="404"/>
            <p14:sldId id="361"/>
            <p14:sldId id="362"/>
            <p14:sldId id="283"/>
            <p14:sldId id="389"/>
            <p14:sldId id="387"/>
            <p14:sldId id="390"/>
            <p14:sldId id="388"/>
            <p14:sldId id="391"/>
            <p14:sldId id="392"/>
            <p14:sldId id="381"/>
            <p14:sldId id="393"/>
            <p14:sldId id="394"/>
            <p14:sldId id="412"/>
            <p14:sldId id="399"/>
            <p14:sldId id="400"/>
            <p14:sldId id="395"/>
            <p14:sldId id="396"/>
            <p14:sldId id="397"/>
            <p14:sldId id="380"/>
          </p14:sldIdLst>
        </p14:section>
        <p14:section name="GRACIAS" id="{6CD91DAB-8EC3-4802-89E9-0F1C7022FB28}">
          <p14:sldIdLst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7F9"/>
    <a:srgbClr val="FFE701"/>
    <a:srgbClr val="E6E6E6"/>
    <a:srgbClr val="DC5924"/>
    <a:srgbClr val="B7472A"/>
    <a:srgbClr val="000000"/>
    <a:srgbClr val="FFFFFF"/>
    <a:srgbClr val="75D1FF"/>
    <a:srgbClr val="11161C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972" autoAdjust="0"/>
  </p:normalViewPr>
  <p:slideViewPr>
    <p:cSldViewPr snapToGrid="0">
      <p:cViewPr>
        <p:scale>
          <a:sx n="66" d="100"/>
          <a:sy n="66" d="100"/>
        </p:scale>
        <p:origin x="804" y="180"/>
      </p:cViewPr>
      <p:guideLst/>
    </p:cSldViewPr>
  </p:slideViewPr>
  <p:outlineViewPr>
    <p:cViewPr>
      <p:scale>
        <a:sx n="33" d="100"/>
        <a:sy n="33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3162"/>
    </p:cViewPr>
  </p:sorterViewPr>
  <p:notesViewPr>
    <p:cSldViewPr snapToGrid="0">
      <p:cViewPr varScale="1">
        <p:scale>
          <a:sx n="128" d="100"/>
          <a:sy n="128" d="100"/>
        </p:scale>
        <p:origin x="195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pPr rtl="0"/>
            <a:fld id="{B37A5E45-A9EA-4FC7-A66C-539278333CE5}" type="datetime1">
              <a:rPr lang="es-ES" smtClean="0"/>
              <a:t>20/10/2025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DBAA5490-FD59-4087-AC7E-016E8A4124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F9298B5-D7D2-466C-8797-145B6874B5D5}" type="datetime1">
              <a:rPr lang="es-ES" smtClean="0"/>
              <a:pPr/>
              <a:t>20/10/2025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pPr rtl="0"/>
            <a:fld id="{4CBCEA92-F142-4D57-B507-37BDAF44710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/>
              <a:t>Para usar esta diapositiva de animación de título con una nueva imagen, simplemente 1) mueva la forma semitransparente superior a un lado, 2) elimine la imagen de marcador de posición, 3) haga clic en el icono de imagen para agregar una imagen nueva, 4) mueva la forma semitransparente a la posición original, 5) actualice el texto de la diapositiva.</a:t>
            </a:r>
          </a:p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46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467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576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471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947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2003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21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73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629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390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0934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9162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030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560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4289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BCEA92-F142-4D57-B507-37BDAF44710C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095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nealanalytics.com/creative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hyperlink" Target="http://www.nealanalytics.com/neal-creative/templates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nealanalytics.com/creative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nealanalytics.com/neal-creative/templat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ÍTULO O TRANSI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Elipse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Elipse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Elipse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</p:spTree>
    <p:extLst>
      <p:ext uri="{BB962C8B-B14F-4D97-AF65-F5344CB8AC3E}">
        <p14:creationId xmlns:p14="http://schemas.microsoft.com/office/powerpoint/2010/main" val="230104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SECCIÓN con núme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Marcador de posición de pie de página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rt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s-ES" noProof="0"/>
              <a:t>HAGA CLIC PARA EDITAR EL ESTILO DEL TÍTULO DEL PATRÓN</a:t>
            </a:r>
          </a:p>
        </p:txBody>
      </p:sp>
      <p:sp>
        <p:nvSpPr>
          <p:cNvPr id="22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 rtlCol="0"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Incluya aquí un título de sección</a:t>
            </a:r>
          </a:p>
          <a:p>
            <a:pPr lvl="1" rtl="0"/>
            <a:r>
              <a:rPr lang="es-ES" noProof="0"/>
              <a:t>1</a:t>
            </a:r>
          </a:p>
        </p:txBody>
      </p:sp>
      <p:sp>
        <p:nvSpPr>
          <p:cNvPr id="23" name="Marcador de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757130"/>
          </a:xfrm>
        </p:spPr>
        <p:txBody>
          <a:bodyPr lIns="457200" rIns="457200" rtlCol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2400" b="0" i="0" u="none" strike="noStrike" kern="1200" cap="none" spc="0" normalizeH="0" noProof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Agregue aquí una frase breve de resumen que complemente el título o la declaración anterior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2" hasCustomPrompt="1"/>
          </p:nvPr>
        </p:nvSpPr>
        <p:spPr>
          <a:xfrm>
            <a:off x="5737094" y="1007413"/>
            <a:ext cx="792205" cy="1200329"/>
          </a:xfrm>
        </p:spPr>
        <p:txBody>
          <a:bodyPr wrap="none" rtlCol="0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4187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OR DE LA SECCIÓN TIPO BASE DE ANIL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448777" y="2768599"/>
            <a:ext cx="5208335" cy="1261884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9" name="punto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76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ita opción oscura alineado a la izquierd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es-ES" noProof="0"/>
              <a:t>"CITA".</a:t>
            </a:r>
          </a:p>
          <a:p>
            <a:pPr lvl="1" rtl="0"/>
            <a:r>
              <a:rPr lang="es-ES" noProof="0"/>
              <a:t> NEGRITA</a:t>
            </a:r>
          </a:p>
        </p:txBody>
      </p:sp>
      <p:sp>
        <p:nvSpPr>
          <p:cNvPr id="7" name="Forma libre: Forma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— El nombre y la empresa o la fuente va aquí</a:t>
            </a:r>
          </a:p>
        </p:txBody>
      </p:sp>
    </p:spTree>
    <p:extLst>
      <p:ext uri="{BB962C8B-B14F-4D97-AF65-F5344CB8AC3E}">
        <p14:creationId xmlns:p14="http://schemas.microsoft.com/office/powerpoint/2010/main" val="326628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ita opción oscura alineado al centro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es-ES" noProof="0"/>
              <a:t>"CITA".</a:t>
            </a:r>
          </a:p>
          <a:p>
            <a:pPr lvl="1" rtl="0"/>
            <a:r>
              <a:rPr lang="es-ES" noProof="0"/>
              <a:t>NEGRITA</a:t>
            </a:r>
          </a:p>
        </p:txBody>
      </p:sp>
      <p:sp>
        <p:nvSpPr>
          <p:cNvPr id="7" name="Forma libre: Forma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— El nombre y la empresa o la fuente va aquí</a:t>
            </a:r>
          </a:p>
        </p:txBody>
      </p:sp>
    </p:spTree>
    <p:extLst>
      <p:ext uri="{BB962C8B-B14F-4D97-AF65-F5344CB8AC3E}">
        <p14:creationId xmlns:p14="http://schemas.microsoft.com/office/powerpoint/2010/main" val="303163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ita opción oscura alineado a la izquier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 rtl="0"/>
            <a:r>
              <a:rPr lang="es-ES" noProof="0"/>
              <a:t>"CITA".</a:t>
            </a:r>
          </a:p>
          <a:p>
            <a:pPr lvl="1" rtl="0"/>
            <a:r>
              <a:rPr lang="es-ES" noProof="0"/>
              <a:t> NEGRITA</a:t>
            </a:r>
          </a:p>
        </p:txBody>
      </p:sp>
      <p:sp>
        <p:nvSpPr>
          <p:cNvPr id="7" name="Forma libre: Forma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— El nombre y la empresa o la fuente va aquí</a:t>
            </a:r>
          </a:p>
        </p:txBody>
      </p:sp>
    </p:spTree>
    <p:extLst>
      <p:ext uri="{BB962C8B-B14F-4D97-AF65-F5344CB8AC3E}">
        <p14:creationId xmlns:p14="http://schemas.microsoft.com/office/powerpoint/2010/main" val="207573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 opción transparente alineado al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 de texto 8"/>
          <p:cNvSpPr txBox="1"/>
          <p:nvPr userDrawn="1"/>
        </p:nvSpPr>
        <p:spPr>
          <a:xfrm>
            <a:off x="5648960" y="419100"/>
            <a:ext cx="89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ES" sz="11500" noProof="0">
                <a:solidFill>
                  <a:schemeClr val="accent4"/>
                </a:solidFill>
                <a:latin typeface="Arial Black" panose="020B0A04020102020204" pitchFamily="34" charset="0"/>
              </a:rPr>
              <a:t>“</a:t>
            </a:r>
            <a:endParaRPr lang="es-ES" sz="2800" noProof="0">
              <a:solidFill>
                <a:schemeClr val="accent4"/>
              </a:solidFill>
            </a:endParaRPr>
          </a:p>
        </p:txBody>
      </p:sp>
      <p:sp>
        <p:nvSpPr>
          <p:cNvPr id="5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 rtlCol="0"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— El nombre y la empresa o la fuente va aquí</a:t>
            </a:r>
          </a:p>
        </p:txBody>
      </p:sp>
      <p:sp>
        <p:nvSpPr>
          <p:cNvPr id="6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rtlCol="0"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 rtl="0"/>
            <a:r>
              <a:rPr lang="es-ES" noProof="0"/>
              <a:t>"CITA".</a:t>
            </a:r>
          </a:p>
          <a:p>
            <a:pPr lvl="1" rtl="0"/>
            <a:r>
              <a:rPr lang="es-ES" noProof="0"/>
              <a:t>NEGRITA</a:t>
            </a:r>
          </a:p>
        </p:txBody>
      </p:sp>
      <p:sp>
        <p:nvSpPr>
          <p:cNvPr id="7" name="Marcador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609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scuro Llamada con puntos pequeños sin viñeta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19100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título del patrón</a:t>
            </a:r>
          </a:p>
        </p:txBody>
      </p:sp>
      <p:sp>
        <p:nvSpPr>
          <p:cNvPr id="12" name="Marcador de texto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599498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779896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2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lamada con puntos pequeños sin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1643527"/>
          </a:xfrm>
        </p:spPr>
        <p:txBody>
          <a:bodyPr wrap="square" lIns="91440" r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19100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5AE1514C-5E56-4738-A1FF-4B1CFD2A3E3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título del patrón</a:t>
            </a:r>
          </a:p>
        </p:txBody>
      </p:sp>
      <p:sp>
        <p:nvSpPr>
          <p:cNvPr id="12" name="Marcador de texto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697329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975558"/>
            <a:ext cx="5671764" cy="1705723"/>
          </a:xfrm>
        </p:spPr>
        <p:txBody>
          <a:bodyPr rtlCol="0"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606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lamada con puntos pequeños sin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1830245"/>
          </a:xfrm>
        </p:spPr>
        <p:txBody>
          <a:bodyPr wrap="square" lIns="146304" rIns="146304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 rtlCol="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título del patrón</a:t>
            </a:r>
          </a:p>
        </p:txBody>
      </p:sp>
      <p:sp>
        <p:nvSpPr>
          <p:cNvPr id="12" name="Marcador de texto 8"/>
          <p:cNvSpPr>
            <a:spLocks noGrp="1"/>
          </p:cNvSpPr>
          <p:nvPr>
            <p:ph type="body" sz="quarter" idx="12" hasCustomPrompt="1"/>
          </p:nvPr>
        </p:nvSpPr>
        <p:spPr>
          <a:xfrm>
            <a:off x="2661017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texto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8347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8"/>
          <p:cNvSpPr>
            <a:spLocks noGrp="1"/>
          </p:cNvSpPr>
          <p:nvPr>
            <p:ph type="body" sz="quarter" idx="14" hasCustomPrompt="1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8"/>
          <p:cNvSpPr>
            <a:spLocks noGrp="1"/>
          </p:cNvSpPr>
          <p:nvPr>
            <p:ph type="body" sz="quarter" idx="15" hasCustomPrompt="1"/>
          </p:nvPr>
        </p:nvSpPr>
        <p:spPr>
          <a:xfrm>
            <a:off x="9763006" y="3436331"/>
            <a:ext cx="2286000" cy="1750736"/>
          </a:xfrm>
        </p:spPr>
        <p:txBody>
          <a:bodyPr lIns="182880" tIns="146304" rIns="91440" rtlCol="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1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58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, 5 pilares texto más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304800" y="2598127"/>
            <a:ext cx="3714704" cy="2805896"/>
          </a:xfrm>
        </p:spPr>
        <p:txBody>
          <a:bodyPr lIns="91440" rIns="91440" rtlCol="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contenido 2"/>
          <p:cNvSpPr>
            <a:spLocks noGrp="1"/>
          </p:cNvSpPr>
          <p:nvPr>
            <p:ph idx="14" hasCustomPrompt="1"/>
          </p:nvPr>
        </p:nvSpPr>
        <p:spPr>
          <a:xfrm>
            <a:off x="4168631" y="2598127"/>
            <a:ext cx="3840480" cy="3806170"/>
          </a:xfrm>
        </p:spPr>
        <p:txBody>
          <a:bodyPr lIns="91440" rIns="91440" rtlCol="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Segundo nivel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Tercer nivel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Cuarto nivel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Quinto nivel</a:t>
            </a:r>
          </a:p>
        </p:txBody>
      </p:sp>
      <p:sp>
        <p:nvSpPr>
          <p:cNvPr id="9" name="Marcador de contenido 2"/>
          <p:cNvSpPr>
            <a:spLocks noGrp="1"/>
          </p:cNvSpPr>
          <p:nvPr>
            <p:ph idx="15" hasCustomPrompt="1"/>
          </p:nvPr>
        </p:nvSpPr>
        <p:spPr>
          <a:xfrm>
            <a:off x="8158238" y="2598127"/>
            <a:ext cx="3773077" cy="3806170"/>
          </a:xfrm>
        </p:spPr>
        <p:txBody>
          <a:bodyPr lIns="91440" rIns="91440" rtlCol="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Segundo nivel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Tercer nivel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Cuarto nivel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s-ES" noProof="0"/>
              <a:t>Quinto nivel</a:t>
            </a:r>
          </a:p>
        </p:txBody>
      </p:sp>
      <p:sp>
        <p:nvSpPr>
          <p:cNvPr id="11" name="Forma libre: Forma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978729"/>
          </a:xfrm>
        </p:spPr>
        <p:txBody>
          <a:bodyPr rtlCol="0"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6" hasCustomPrompt="1"/>
          </p:nvPr>
        </p:nvSpPr>
        <p:spPr>
          <a:xfrm>
            <a:off x="2879003" y="419100"/>
            <a:ext cx="9084398" cy="187076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53865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, 5 pilares texto más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68658" y="3493674"/>
            <a:ext cx="2377440" cy="2226763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7" name="Marcador de contenido 2"/>
          <p:cNvSpPr>
            <a:spLocks noGrp="1"/>
          </p:cNvSpPr>
          <p:nvPr>
            <p:ph idx="14" hasCustomPrompt="1"/>
          </p:nvPr>
        </p:nvSpPr>
        <p:spPr>
          <a:xfrm>
            <a:off x="2483635" y="3493674"/>
            <a:ext cx="2377440" cy="2226763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2"/>
          <p:cNvSpPr>
            <a:spLocks noGrp="1"/>
          </p:cNvSpPr>
          <p:nvPr>
            <p:ph idx="15" hasCustomPrompt="1"/>
          </p:nvPr>
        </p:nvSpPr>
        <p:spPr>
          <a:xfrm>
            <a:off x="4898612" y="3493674"/>
            <a:ext cx="2377440" cy="2226763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contenido 2"/>
          <p:cNvSpPr>
            <a:spLocks noGrp="1"/>
          </p:cNvSpPr>
          <p:nvPr>
            <p:ph idx="16" hasCustomPrompt="1"/>
          </p:nvPr>
        </p:nvSpPr>
        <p:spPr>
          <a:xfrm>
            <a:off x="7313589" y="3493674"/>
            <a:ext cx="2377440" cy="2226763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contenido 2"/>
          <p:cNvSpPr>
            <a:spLocks noGrp="1"/>
          </p:cNvSpPr>
          <p:nvPr>
            <p:ph idx="17" hasCustomPrompt="1"/>
          </p:nvPr>
        </p:nvSpPr>
        <p:spPr>
          <a:xfrm>
            <a:off x="9728566" y="3493674"/>
            <a:ext cx="2377440" cy="2226763"/>
          </a:xfrm>
        </p:spPr>
        <p:txBody>
          <a:bodyPr lIns="146304" rIns="146304" rtlCol="0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posición de contenido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 rtlCol="0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#</a:t>
            </a:r>
          </a:p>
        </p:txBody>
      </p:sp>
      <p:sp>
        <p:nvSpPr>
          <p:cNvPr id="19" name="Marcador de posición de contenido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es-ES" noProof="0"/>
              <a:t>#</a:t>
            </a:r>
          </a:p>
        </p:txBody>
      </p:sp>
      <p:sp>
        <p:nvSpPr>
          <p:cNvPr id="20" name="Marcador de posición de contenido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es-ES" noProof="0"/>
              <a:t>#</a:t>
            </a:r>
          </a:p>
        </p:txBody>
      </p:sp>
      <p:sp>
        <p:nvSpPr>
          <p:cNvPr id="21" name="Marcador de posición de contenido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 rtl="0"/>
            <a:r>
              <a:rPr lang="es-E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9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Diseño de fo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imágenes o vaya en línea a...</a:t>
            </a:r>
          </a:p>
        </p:txBody>
      </p:sp>
      <p:sp>
        <p:nvSpPr>
          <p:cNvPr id="6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8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8050"/>
            <a:ext cx="6129304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0960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10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6519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Diseño de fo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1802836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5AE1514C-5E56-4738-A1FF-4B1CFD2A3E3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6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9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9000"/>
            <a:ext cx="6096000" cy="3092641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0960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12" name="Marcador de posición de número de diapositiva 7" hidden="1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4997E989-D798-4C62-8E93-3D2D613C2488}" type="slidenum">
              <a:rPr lang="en-US" smtClean="0">
                <a:solidFill>
                  <a:schemeClr val="bg1"/>
                </a:solidFill>
              </a:rPr>
              <a:pPr rtl="0"/>
              <a:t>‹Nº›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5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Diseño de fo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429000"/>
            <a:ext cx="6129304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554163"/>
            <a:ext cx="6129304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8823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Diseño de foto izquierd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6094443" y="3425619"/>
            <a:ext cx="6097555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6094443" y="1554163"/>
            <a:ext cx="6097556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10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1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982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Diseño de foto izquierd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>
            <a:off x="0" y="0"/>
            <a:ext cx="6094444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6180534" y="3429000"/>
            <a:ext cx="6011466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6180534" y="1554163"/>
            <a:ext cx="5791200" cy="1089529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11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2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76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Diseño de foto izquierd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0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6138266" y="3457545"/>
            <a:ext cx="6053733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50/50 diseño de foto</a:t>
            </a:r>
          </a:p>
        </p:txBody>
      </p:sp>
      <p:sp>
        <p:nvSpPr>
          <p:cNvPr id="9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888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Diseño de foto izquierd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rtlCol="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107099"/>
            <a:ext cx="6096000" cy="2643801"/>
          </a:xfrm>
        </p:spPr>
        <p:txBody>
          <a:bodyPr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06054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Diseño de foto izquierda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/>
            <a:stretch>
              <a:fillRect/>
            </a:stretch>
          </a:blipFill>
        </p:spPr>
        <p:txBody>
          <a:bodyPr rtlCol="0" anchor="ctr" anchorCtr="0">
            <a:noAutofit/>
          </a:bodyPr>
          <a:lstStyle>
            <a:lvl1pPr algn="r">
              <a:defRPr baseline="0"/>
            </a:lvl1pPr>
          </a:lstStyle>
          <a:p>
            <a:pPr rtl="0"/>
            <a:r>
              <a:rPr lang="es-ES" noProof="0"/>
              <a:t>Imagen de sangrado completo</a:t>
            </a:r>
          </a:p>
        </p:txBody>
      </p:sp>
      <p:sp>
        <p:nvSpPr>
          <p:cNvPr id="7" name="Marcador de posición de contenido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 rtlCol="0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1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3429000"/>
            <a:ext cx="5960269" cy="3169586"/>
          </a:xfrm>
        </p:spPr>
        <p:txBody>
          <a:bodyPr rtlCol="0"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 rtlCol="0"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s-ES" noProof="0"/>
              <a:t>Título</a:t>
            </a:r>
          </a:p>
        </p:txBody>
      </p:sp>
      <p:sp>
        <p:nvSpPr>
          <p:cNvPr id="13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8914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lamada con puntos pequeños sin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6253316" y="3503950"/>
            <a:ext cx="5671764" cy="1705723"/>
          </a:xfrm>
        </p:spPr>
        <p:txBody>
          <a:bodyPr rtlCol="0"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rtlCol="0" anchor="ctr" anchorCtr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6919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lIns="91440" rtlCol="0">
            <a:noAutofit/>
          </a:bodyPr>
          <a:lstStyle>
            <a:lvl1pPr algn="ctr"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2529923"/>
          </a:xfrm>
          <a:prstGeom prst="rect">
            <a:avLst/>
          </a:prstGeom>
        </p:spPr>
        <p:txBody>
          <a:bodyPr rtlCol="0"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es-ES" noProof="0"/>
              <a:t>HAGA CLIC PARA EDITAR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 rtlCol="0"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TEXTO PRINCIPAL</a:t>
            </a:r>
          </a:p>
        </p:txBody>
      </p:sp>
    </p:spTree>
    <p:extLst>
      <p:ext uri="{BB962C8B-B14F-4D97-AF65-F5344CB8AC3E}">
        <p14:creationId xmlns:p14="http://schemas.microsoft.com/office/powerpoint/2010/main" val="407356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066954" cy="6858000"/>
          </a:xfrm>
        </p:spPr>
        <p:txBody>
          <a:bodyPr rtlCol="0"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55839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93648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5"/>
            <a:ext cx="12191998" cy="6851648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6" name="Cuadro de texto 5">
            <a:hlinkClick r:id="rId3"/>
            <a:extLst>
              <a:ext uri="{FF2B5EF4-FFF2-40B4-BE49-F238E27FC236}">
                <a16:creationId xmlns:a16="http://schemas.microsoft.com/office/drawing/2014/main" id="{FC5E276D-531E-45A9-B450-EFEC62CDC8DF}"/>
              </a:ext>
            </a:extLst>
          </p:cNvPr>
          <p:cNvSpPr txBox="1"/>
          <p:nvPr userDrawn="1"/>
        </p:nvSpPr>
        <p:spPr>
          <a:xfrm>
            <a:off x="4961284" y="93791"/>
            <a:ext cx="2269433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50" b="0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| haga clic e </a:t>
            </a:r>
            <a:r>
              <a:rPr lang="es-ES" sz="105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infórmese</a:t>
            </a:r>
          </a:p>
        </p:txBody>
      </p:sp>
      <p:sp>
        <p:nvSpPr>
          <p:cNvPr id="7" name="Cuadro de texto 6">
            <a:hlinkClick r:id="rId4"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noProof="0">
                <a:solidFill>
                  <a:schemeClr val="tx1"/>
                </a:solidFill>
              </a:rPr>
              <a:t>Neal Creative </a:t>
            </a:r>
            <a:r>
              <a:rPr lang="es-ES" sz="9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s-ES" sz="1000" noProof="0">
                <a:solidFill>
                  <a:schemeClr val="tx1"/>
                </a:solidFill>
              </a:rPr>
              <a:t> </a:t>
            </a:r>
            <a:endParaRPr lang="es-ES" sz="1000" b="1" noProof="0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F273A61-5610-4355-89F3-7C90515BFCC9}"/>
              </a:ext>
            </a:extLst>
          </p:cNvPr>
          <p:cNvGrpSpPr/>
          <p:nvPr userDrawn="1"/>
        </p:nvGrpSpPr>
        <p:grpSpPr>
          <a:xfrm>
            <a:off x="5976075" y="3634505"/>
            <a:ext cx="1909396" cy="1792672"/>
            <a:chOff x="5976075" y="3634505"/>
            <a:chExt cx="1909396" cy="179267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61135" y="4148396"/>
              <a:ext cx="860601" cy="1278781"/>
            </a:xfrm>
            <a:prstGeom prst="rect">
              <a:avLst/>
            </a:prstGeom>
          </p:spPr>
        </p:pic>
        <p:sp>
          <p:nvSpPr>
            <p:cNvPr id="10" name="Cuadro de texto 9">
              <a:extLst>
                <a:ext uri="{FF2B5EF4-FFF2-40B4-BE49-F238E27FC236}">
                  <a16:creationId xmlns:a16="http://schemas.microsoft.com/office/drawing/2014/main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190939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es-ES" sz="900" noProof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SUGERENCIA </a:t>
              </a:r>
              <a:r>
                <a:rPr lang="es-ES" sz="90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Use la paleta de c</a:t>
              </a:r>
              <a:r>
                <a:rPr lang="es-ES" sz="900" noProof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olor integrada, con verde y gris para las llamadas y el énfasis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55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ÍTULO O TRANSI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Elipse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Elipse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Elipse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8" name="Cuadro de texto 7">
            <a:hlinkClick r:id="rId2"/>
            <a:extLst>
              <a:ext uri="{FF2B5EF4-FFF2-40B4-BE49-F238E27FC236}">
                <a16:creationId xmlns:a16="http://schemas.microsoft.com/office/drawing/2014/main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noProof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es-ES" sz="900" kern="1200" noProof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s-ES" sz="1000" noProof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s-ES" sz="1000" b="1" noProof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62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lamada con puntos pequeños sin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6253316" y="3503950"/>
            <a:ext cx="5671764" cy="1705723"/>
          </a:xfrm>
        </p:spPr>
        <p:txBody>
          <a:bodyPr rtlCol="0"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rtlCol="0" anchor="ctr" anchorCtr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2" name="Cuadro de texto 11">
            <a:hlinkClick r:id="rId3"/>
            <a:extLst>
              <a:ext uri="{FF2B5EF4-FFF2-40B4-BE49-F238E27FC236}">
                <a16:creationId xmlns:a16="http://schemas.microsoft.com/office/drawing/2014/main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584436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0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| haga clic e </a:t>
            </a:r>
            <a:r>
              <a:rPr lang="es-ES" sz="1100" b="1" i="0" u="none" strike="noStrike" kern="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infórmese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1089529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11" name="Marcador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3" name="Cuadro de texto 12">
            <a:hlinkClick r:id="rId4"/>
            <a:extLst>
              <a:ext uri="{FF2B5EF4-FFF2-40B4-BE49-F238E27FC236}">
                <a16:creationId xmlns:a16="http://schemas.microsoft.com/office/drawing/2014/main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noProof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s-ES" sz="900" kern="1200" noProof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s-ES" sz="1000" noProof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s-ES" sz="1000" b="1" noProof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4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ítulo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108952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posición de número de diapositiva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4997E989-D798-4C62-8E93-3D2D613C248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605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12" r:id="rId2"/>
    <p:sldLayoutId id="2147483672" r:id="rId3"/>
    <p:sldLayoutId id="2147483749" r:id="rId4"/>
    <p:sldLayoutId id="2147483750" r:id="rId5"/>
    <p:sldLayoutId id="2147483752" r:id="rId6"/>
    <p:sldLayoutId id="2147483674" r:id="rId7"/>
    <p:sldLayoutId id="2147483720" r:id="rId8"/>
    <p:sldLayoutId id="2147483721" r:id="rId9"/>
    <p:sldLayoutId id="2147483732" r:id="rId10"/>
    <p:sldLayoutId id="2147483730" r:id="rId11"/>
    <p:sldLayoutId id="2147483716" r:id="rId12"/>
    <p:sldLayoutId id="2147483735" r:id="rId13"/>
    <p:sldLayoutId id="2147483700" r:id="rId14"/>
    <p:sldLayoutId id="2147483734" r:id="rId15"/>
    <p:sldLayoutId id="2147483701" r:id="rId16"/>
    <p:sldLayoutId id="2147483736" r:id="rId17"/>
    <p:sldLayoutId id="2147483733" r:id="rId18"/>
    <p:sldLayoutId id="2147483741" r:id="rId19"/>
    <p:sldLayoutId id="2147483727" r:id="rId20"/>
    <p:sldLayoutId id="2147483719" r:id="rId21"/>
    <p:sldLayoutId id="2147483655" r:id="rId22"/>
    <p:sldLayoutId id="2147483748" r:id="rId23"/>
    <p:sldLayoutId id="2147483753" r:id="rId24"/>
    <p:sldLayoutId id="2147483747" r:id="rId25"/>
    <p:sldLayoutId id="2147483745" r:id="rId26"/>
    <p:sldLayoutId id="2147483737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792">
          <p15:clr>
            <a:srgbClr val="F26B43"/>
          </p15:clr>
        </p15:guide>
        <p15:guide id="7" orient="horz" pos="42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buenosaires.gob.ar/dataset/delitos/resource/3fbc3808-14c7-4559-8ba5-f68e919fee40" TargetMode="Externa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ealanalytics.com/creativ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Marcador de posición de imagen 12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" b="781"/>
          <a:stretch>
            <a:fillRect/>
          </a:stretch>
        </p:blipFill>
        <p:spPr/>
      </p:pic>
      <p:sp>
        <p:nvSpPr>
          <p:cNvPr id="4" name="Rectángulo 3"/>
          <p:cNvSpPr/>
          <p:nvPr/>
        </p:nvSpPr>
        <p:spPr>
          <a:xfrm>
            <a:off x="8709" y="16039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mpd="thinThick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Rectángulo 45"/>
          <p:cNvSpPr/>
          <p:nvPr/>
        </p:nvSpPr>
        <p:spPr>
          <a:xfrm flipH="1">
            <a:off x="7911254" y="4154806"/>
            <a:ext cx="2995659" cy="9016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>
              <a:lnSpc>
                <a:spcPct val="90000"/>
              </a:lnSpc>
            </a:pPr>
            <a:r>
              <a:rPr lang="es-ES" sz="2800" dirty="0">
                <a:gradFill>
                  <a:gsLst>
                    <a:gs pos="0">
                      <a:srgbClr val="75D1FF">
                        <a:lumMod val="5000"/>
                        <a:lumOff val="95000"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</a:rPr>
              <a:t>¿Por qué, dónde y cuándo actuar?</a:t>
            </a:r>
          </a:p>
        </p:txBody>
      </p:sp>
      <p:sp>
        <p:nvSpPr>
          <p:cNvPr id="9" name="Título 6"/>
          <p:cNvSpPr txBox="1">
            <a:spLocks/>
          </p:cNvSpPr>
          <p:nvPr/>
        </p:nvSpPr>
        <p:spPr>
          <a:xfrm>
            <a:off x="1679957" y="3280601"/>
            <a:ext cx="5909265" cy="874205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endParaRPr lang="es-ES" sz="8800" spc="-3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lt"/>
            </a:endParaRPr>
          </a:p>
        </p:txBody>
      </p:sp>
      <p:sp>
        <p:nvSpPr>
          <p:cNvPr id="7" name="Título 6"/>
          <p:cNvSpPr>
            <a:spLocks noGrp="1"/>
          </p:cNvSpPr>
          <p:nvPr>
            <p:ph type="ctrTitle"/>
          </p:nvPr>
        </p:nvSpPr>
        <p:spPr>
          <a:xfrm>
            <a:off x="687847" y="2461199"/>
            <a:ext cx="10978289" cy="1311128"/>
          </a:xfrm>
        </p:spPr>
        <p:txBody>
          <a:bodyPr rtlCol="0"/>
          <a:lstStyle/>
          <a:p>
            <a:r>
              <a:rPr lang="es-ES" dirty="0"/>
              <a:t>¡</a:t>
            </a:r>
            <a:r>
              <a:rPr lang="es-BO" dirty="0"/>
              <a:t>CRIMINALIDAD</a:t>
            </a:r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>
          <a:xfrm>
            <a:off x="1396266" y="3321944"/>
            <a:ext cx="9461500" cy="1311128"/>
          </a:xfrm>
        </p:spPr>
        <p:txBody>
          <a:bodyPr rtlCol="0"/>
          <a:lstStyle/>
          <a:p>
            <a:pPr rtl="0"/>
            <a:r>
              <a:rPr lang="es-ES" dirty="0"/>
              <a:t>EN BUENOS AIRES</a:t>
            </a:r>
            <a:r>
              <a:rPr lang="es-ES" sz="8800" spc="-300" dirty="0"/>
              <a:t>!</a:t>
            </a:r>
            <a:r>
              <a:rPr lang="es-ES" dirty="0"/>
              <a:t> </a:t>
            </a:r>
          </a:p>
        </p:txBody>
      </p:sp>
      <p:sp>
        <p:nvSpPr>
          <p:cNvPr id="19" name="Forma libre: Forma 18"/>
          <p:cNvSpPr/>
          <p:nvPr/>
        </p:nvSpPr>
        <p:spPr>
          <a:xfrm>
            <a:off x="7066536" y="4361548"/>
            <a:ext cx="488128" cy="488128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t>1</a:t>
            </a:fld>
            <a:endParaRPr lang="es-ES"/>
          </a:p>
        </p:txBody>
      </p:sp>
      <p:sp>
        <p:nvSpPr>
          <p:cNvPr id="2" name="AutoShape 2" descr="https://cdn.eldestapeweb.com/eldestape/112021/1637602485650/crimen-lucas-gonzalez.webp?cw=770&amp;ch=440&amp;extw=jpg"/>
          <p:cNvSpPr>
            <a:spLocks noChangeAspect="1" noChangeArrowheads="1"/>
          </p:cNvSpPr>
          <p:nvPr/>
        </p:nvSpPr>
        <p:spPr bwMode="auto">
          <a:xfrm>
            <a:off x="155575" y="8556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sp>
        <p:nvSpPr>
          <p:cNvPr id="17" name="Rectángulo 16"/>
          <p:cNvSpPr/>
          <p:nvPr/>
        </p:nvSpPr>
        <p:spPr>
          <a:xfrm>
            <a:off x="1864397" y="4783143"/>
            <a:ext cx="3686647" cy="464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/>
              <a:t>Por </a:t>
            </a:r>
            <a:r>
              <a:rPr lang="es-MX" sz="2800" b="1" dirty="0" err="1"/>
              <a:t>Jamile</a:t>
            </a:r>
            <a:r>
              <a:rPr lang="es-MX" sz="2800" b="1" dirty="0"/>
              <a:t> </a:t>
            </a:r>
            <a:r>
              <a:rPr lang="es-MX" sz="2800" b="1" dirty="0" err="1"/>
              <a:t>Ballivian</a:t>
            </a:r>
            <a:endParaRPr lang="es-BO" sz="2800" b="1" dirty="0"/>
          </a:p>
        </p:txBody>
      </p:sp>
    </p:spTree>
    <p:extLst>
      <p:ext uri="{BB962C8B-B14F-4D97-AF65-F5344CB8AC3E}">
        <p14:creationId xmlns:p14="http://schemas.microsoft.com/office/powerpoint/2010/main" val="156315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46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s-ES" dirty="0"/>
              <a:t>—DESCONOCIDO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r>
              <a:rPr lang="es-ES" sz="3200" b="1" dirty="0"/>
              <a:t>“</a:t>
            </a:r>
            <a:r>
              <a:rPr lang="es-MX" dirty="0"/>
              <a:t>DETRÁS DE CADA ACTO DELICTIVO HAY UNA VÍCTIMA QUE MERECE </a:t>
            </a:r>
            <a:r>
              <a:rPr lang="es-MX" b="1" dirty="0"/>
              <a:t>JUSTICIA Y PROTECCIÓN</a:t>
            </a:r>
            <a:r>
              <a:rPr lang="es-ES" sz="3200" dirty="0"/>
              <a:t>".</a:t>
            </a:r>
          </a:p>
        </p:txBody>
      </p:sp>
      <p:sp>
        <p:nvSpPr>
          <p:cNvPr id="2" name="Marcador de posición de número de diapositiva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10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rma libre: Forma 64"/>
          <p:cNvSpPr>
            <a:spLocks noChangeAspect="1"/>
          </p:cNvSpPr>
          <p:nvPr/>
        </p:nvSpPr>
        <p:spPr>
          <a:xfrm>
            <a:off x="119305" y="-2510621"/>
            <a:ext cx="4728754" cy="4728754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0"/>
          </p:nvPr>
        </p:nvSpPr>
        <p:spPr>
          <a:xfrm>
            <a:off x="944881" y="2662266"/>
            <a:ext cx="4332514" cy="480131"/>
          </a:xfrm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1"/>
          </p:nvPr>
        </p:nvSpPr>
        <p:spPr>
          <a:xfrm>
            <a:off x="6096000" y="419099"/>
            <a:ext cx="5671764" cy="4883901"/>
          </a:xfrm>
        </p:spPr>
        <p:txBody>
          <a:bodyPr rtlCol="0"/>
          <a:lstStyle/>
          <a:p>
            <a:pPr marL="457200" indent="-457200" rtl="0">
              <a:buAutoNum type="arabicPeriod"/>
            </a:pPr>
            <a:r>
              <a:rPr lang="es-MX" dirty="0"/>
              <a:t>RESUMEN</a:t>
            </a:r>
          </a:p>
          <a:p>
            <a:pPr marL="457200" indent="-457200" rtl="0">
              <a:buAutoNum type="arabicPeriod"/>
            </a:pPr>
            <a:r>
              <a:rPr lang="es-ES" dirty="0"/>
              <a:t>AUDIENCIA Y CONTEXTO</a:t>
            </a:r>
          </a:p>
          <a:p>
            <a:pPr marL="457200" indent="-457200" rtl="0">
              <a:buAutoNum type="arabicPeriod"/>
            </a:pPr>
            <a:r>
              <a:rPr lang="es-ES" dirty="0"/>
              <a:t>METADATA</a:t>
            </a:r>
          </a:p>
          <a:p>
            <a:pPr marL="457200" indent="-457200" rtl="0">
              <a:buAutoNum type="arabicPeriod"/>
            </a:pPr>
            <a:r>
              <a:rPr lang="es-ES" dirty="0"/>
              <a:t>EDA</a:t>
            </a:r>
          </a:p>
          <a:p>
            <a:pPr lvl="1"/>
            <a:r>
              <a:rPr lang="es-ES" dirty="0"/>
              <a:t>	4.1. Análisis por tipo de delito</a:t>
            </a:r>
          </a:p>
          <a:p>
            <a:pPr lvl="1"/>
            <a:r>
              <a:rPr lang="es-ES" dirty="0"/>
              <a:t>	4.2. Análisis geográfico</a:t>
            </a:r>
          </a:p>
          <a:p>
            <a:pPr lvl="1"/>
            <a:r>
              <a:rPr lang="es-ES" dirty="0"/>
              <a:t>	4.3. Análisis temporal</a:t>
            </a:r>
          </a:p>
          <a:p>
            <a:pPr marL="457200" indent="-457200" rtl="0">
              <a:buAutoNum type="arabicPeriod"/>
            </a:pPr>
            <a:r>
              <a:rPr lang="es-ES" dirty="0"/>
              <a:t>INSIGHTS</a:t>
            </a:r>
          </a:p>
          <a:p>
            <a:pPr marL="457200" indent="-457200" rtl="0">
              <a:buAutoNum type="arabicPeriod"/>
            </a:pPr>
            <a:r>
              <a:rPr lang="es-ES" dirty="0"/>
              <a:t>RECOMENDACIONES</a:t>
            </a:r>
          </a:p>
          <a:p>
            <a:pPr marL="457200" indent="-457200" rtl="0">
              <a:buAutoNum type="arabicPeriod"/>
            </a:pPr>
            <a:r>
              <a:rPr lang="es-ES" dirty="0"/>
              <a:t>MODELOS</a:t>
            </a:r>
          </a:p>
          <a:p>
            <a:pPr marL="457200" indent="-457200" rtl="0">
              <a:buAutoNum type="arabicPeriod"/>
            </a:pPr>
            <a:endParaRPr lang="es-ES" dirty="0"/>
          </a:p>
          <a:p>
            <a:pPr marL="457200" indent="-457200" rtl="0">
              <a:buAutoNum type="arabicPeriod"/>
            </a:pPr>
            <a:endParaRPr lang="es-ES" dirty="0"/>
          </a:p>
        </p:txBody>
      </p:sp>
      <p:sp>
        <p:nvSpPr>
          <p:cNvPr id="32" name="Título 31"/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024896"/>
          </a:xfrm>
        </p:spPr>
        <p:txBody>
          <a:bodyPr rtlCol="0"/>
          <a:lstStyle/>
          <a:p>
            <a:pPr rtl="0"/>
            <a:r>
              <a:rPr lang="es-ES" sz="4000" b="1" dirty="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</a:rPr>
              <a:t>ÍNDICE</a:t>
            </a:r>
            <a:endParaRPr lang="es-ES" sz="2800" b="1" dirty="0">
              <a:gradFill>
                <a:gsLst>
                  <a:gs pos="15000">
                    <a:schemeClr val="bg1"/>
                  </a:gs>
                  <a:gs pos="47000">
                    <a:schemeClr val="bg1"/>
                  </a:gs>
                </a:gsLst>
                <a:lin ang="5400000" scaled="1"/>
              </a:gra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21" y="2814042"/>
            <a:ext cx="2948549" cy="29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498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rma libre: Forma 64"/>
          <p:cNvSpPr>
            <a:spLocks noChangeAspect="1"/>
          </p:cNvSpPr>
          <p:nvPr/>
        </p:nvSpPr>
        <p:spPr>
          <a:xfrm>
            <a:off x="119305" y="-2510621"/>
            <a:ext cx="4728754" cy="4728754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0"/>
          </p:nvPr>
        </p:nvSpPr>
        <p:spPr>
          <a:xfrm>
            <a:off x="944881" y="2662266"/>
            <a:ext cx="4332514" cy="2031325"/>
          </a:xfrm>
        </p:spPr>
        <p:txBody>
          <a:bodyPr rtlCol="0"/>
          <a:lstStyle/>
          <a:p>
            <a:pPr rtl="0"/>
            <a:r>
              <a:rPr lang="es-ES" dirty="0"/>
              <a:t>Se estudiaron los datos de los delitos denunciados  en la Ciudad Autónoma de Buenos Aires en el año 2022.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569148"/>
          </a:xfrm>
        </p:spPr>
        <p:txBody>
          <a:bodyPr rtlCol="0"/>
          <a:lstStyle/>
          <a:p>
            <a:pPr rtl="0"/>
            <a:r>
              <a:rPr lang="es-ES" dirty="0"/>
              <a:t>¿QUÉ SE QUIERE LOGRAR?</a:t>
            </a:r>
          </a:p>
          <a:p>
            <a:pPr lvl="1"/>
            <a:r>
              <a:rPr lang="es-MX" dirty="0"/>
              <a:t>El estudio busca </a:t>
            </a:r>
            <a:r>
              <a:rPr lang="es-MX" b="1" dirty="0">
                <a:solidFill>
                  <a:srgbClr val="FFFF00"/>
                </a:solidFill>
              </a:rPr>
              <a:t>comprender</a:t>
            </a:r>
            <a:r>
              <a:rPr lang="es-MX" dirty="0"/>
              <a:t> cómo </a:t>
            </a:r>
            <a:r>
              <a:rPr lang="es-MX" b="1" dirty="0">
                <a:solidFill>
                  <a:srgbClr val="FFFF00"/>
                </a:solidFill>
              </a:rPr>
              <a:t>factores</a:t>
            </a:r>
            <a:r>
              <a:rPr lang="es-MX" b="1" dirty="0">
                <a:solidFill>
                  <a:schemeClr val="tx1"/>
                </a:solidFill>
              </a:rPr>
              <a:t> </a:t>
            </a:r>
            <a:r>
              <a:rPr lang="es-MX" dirty="0"/>
              <a:t>como la ubicación, el momento del día y el tipo de delito </a:t>
            </a:r>
            <a:r>
              <a:rPr lang="es-MX" b="1" dirty="0">
                <a:solidFill>
                  <a:srgbClr val="FFFF00"/>
                </a:solidFill>
              </a:rPr>
              <a:t>influyen</a:t>
            </a:r>
            <a:r>
              <a:rPr lang="es-MX" dirty="0"/>
              <a:t> en la </a:t>
            </a:r>
            <a:r>
              <a:rPr lang="es-MX" b="1" dirty="0">
                <a:solidFill>
                  <a:srgbClr val="FFFF00"/>
                </a:solidFill>
              </a:rPr>
              <a:t>probabilidad de ser víctima de un crimen</a:t>
            </a:r>
            <a:r>
              <a:rPr lang="es-MX" dirty="0"/>
              <a:t> en Buenos Aires. </a:t>
            </a:r>
            <a:endParaRPr lang="es-ES" dirty="0"/>
          </a:p>
        </p:txBody>
      </p:sp>
      <p:sp>
        <p:nvSpPr>
          <p:cNvPr id="32" name="Título 31"/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024896"/>
          </a:xfrm>
        </p:spPr>
        <p:txBody>
          <a:bodyPr rtlCol="0"/>
          <a:lstStyle/>
          <a:p>
            <a:pPr rtl="0"/>
            <a:r>
              <a:rPr lang="es-ES" sz="4000" b="1" dirty="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</a:rPr>
              <a:t>RESUMEN</a:t>
            </a:r>
            <a:endParaRPr lang="es-ES" sz="2800" b="1" dirty="0">
              <a:gradFill>
                <a:gsLst>
                  <a:gs pos="15000">
                    <a:schemeClr val="bg1"/>
                  </a:gs>
                  <a:gs pos="47000">
                    <a:schemeClr val="bg1"/>
                  </a:gs>
                </a:gsLst>
                <a:lin ang="5400000" scaled="1"/>
              </a:gradFill>
            </a:endParaRPr>
          </a:p>
        </p:txBody>
      </p:sp>
      <p:sp>
        <p:nvSpPr>
          <p:cNvPr id="21" name="Marcador de texto 20"/>
          <p:cNvSpPr>
            <a:spLocks noGrp="1"/>
          </p:cNvSpPr>
          <p:nvPr>
            <p:ph type="body" sz="quarter" idx="12"/>
          </p:nvPr>
        </p:nvSpPr>
        <p:spPr>
          <a:xfrm>
            <a:off x="6096000" y="2599498"/>
            <a:ext cx="5671764" cy="2677143"/>
          </a:xfrm>
        </p:spPr>
        <p:txBody>
          <a:bodyPr rtlCol="0"/>
          <a:lstStyle/>
          <a:p>
            <a:pPr rtl="0"/>
            <a:r>
              <a:rPr lang="es-ES" dirty="0"/>
              <a:t>¿CÓMO SE VA A HACER?</a:t>
            </a:r>
          </a:p>
          <a:p>
            <a:pPr lvl="1"/>
            <a:r>
              <a:rPr lang="es-MX" dirty="0"/>
              <a:t>Utilizando </a:t>
            </a:r>
            <a:r>
              <a:rPr lang="es-MX" b="1" dirty="0">
                <a:solidFill>
                  <a:srgbClr val="FFFF00"/>
                </a:solidFill>
              </a:rPr>
              <a:t>datos abiertos del Gobierno</a:t>
            </a:r>
            <a:r>
              <a:rPr lang="es-MX" dirty="0"/>
              <a:t> de la Ciudad de Buenos Aires, se desarrollará un </a:t>
            </a:r>
            <a:r>
              <a:rPr lang="es-MX" b="1" dirty="0">
                <a:solidFill>
                  <a:srgbClr val="FFFF00"/>
                </a:solidFill>
              </a:rPr>
              <a:t>modelo en Python </a:t>
            </a:r>
            <a:r>
              <a:rPr lang="es-MX" dirty="0"/>
              <a:t>para </a:t>
            </a:r>
            <a:r>
              <a:rPr lang="es-MX" b="1" dirty="0">
                <a:solidFill>
                  <a:srgbClr val="FFFF00"/>
                </a:solidFill>
              </a:rPr>
              <a:t>ayudar</a:t>
            </a:r>
            <a:r>
              <a:rPr lang="es-MX" dirty="0"/>
              <a:t> en la </a:t>
            </a:r>
            <a:r>
              <a:rPr lang="es-MX" b="1" dirty="0">
                <a:solidFill>
                  <a:srgbClr val="FFFF00"/>
                </a:solidFill>
              </a:rPr>
              <a:t>toma de decisiones</a:t>
            </a:r>
            <a:r>
              <a:rPr lang="es-MX" dirty="0"/>
              <a:t> estratégicas en </a:t>
            </a:r>
            <a:r>
              <a:rPr lang="es-MX" b="1" dirty="0">
                <a:solidFill>
                  <a:srgbClr val="FFFF00"/>
                </a:solidFill>
              </a:rPr>
              <a:t>seguridad</a:t>
            </a:r>
            <a:r>
              <a:rPr lang="es-MX" dirty="0"/>
              <a:t>, identificando </a:t>
            </a:r>
            <a:r>
              <a:rPr lang="es-MX" b="1" dirty="0">
                <a:solidFill>
                  <a:srgbClr val="FFFF00"/>
                </a:solidFill>
              </a:rPr>
              <a:t>patrones y tendencias</a:t>
            </a:r>
            <a:r>
              <a:rPr lang="es-MX" dirty="0"/>
              <a:t> en la criminalidad y proporcionando información para </a:t>
            </a:r>
            <a:r>
              <a:rPr lang="es-MX" b="1" dirty="0">
                <a:solidFill>
                  <a:srgbClr val="FFFF00"/>
                </a:solidFill>
              </a:rPr>
              <a:t>mejorar</a:t>
            </a:r>
            <a:r>
              <a:rPr lang="es-MX" dirty="0"/>
              <a:t> la prevención y </a:t>
            </a:r>
            <a:r>
              <a:rPr lang="es-MX" b="1" dirty="0">
                <a:solidFill>
                  <a:srgbClr val="FFFF00"/>
                </a:solidFill>
              </a:rPr>
              <a:t>gestión de la seguridad pública</a:t>
            </a:r>
            <a:r>
              <a:rPr lang="es-MX" dirty="0"/>
              <a:t> en la ciudad.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91176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336 1.11111E-6 L 1.45833E-6 1.11111E-6 " pathEditMode="relative" rAng="0" ptsTypes="AA">
                                      <p:cBhvr>
                                        <p:cTn id="13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4" grpId="1" build="p"/>
      <p:bldP spid="15" grpId="0"/>
      <p:bldP spid="32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/>
          <p:cNvSpPr>
            <a:spLocks noGrp="1"/>
          </p:cNvSpPr>
          <p:nvPr>
            <p:ph type="body" sz="quarter" idx="11"/>
          </p:nvPr>
        </p:nvSpPr>
        <p:spPr>
          <a:xfrm>
            <a:off x="6096000" y="1075679"/>
            <a:ext cx="5671764" cy="1006429"/>
          </a:xfrm>
        </p:spPr>
        <p:txBody>
          <a:bodyPr/>
          <a:lstStyle/>
          <a:p>
            <a:r>
              <a:rPr lang="es-MX" b="0" dirty="0"/>
              <a:t>Cualquier persona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encargada</a:t>
            </a:r>
            <a:r>
              <a:rPr lang="es-MX" b="0" dirty="0"/>
              <a:t> de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tomar decisiones</a:t>
            </a:r>
            <a:r>
              <a:rPr lang="es-MX" b="0" dirty="0"/>
              <a:t> en cuanto a las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políticas de seguridad</a:t>
            </a:r>
            <a:r>
              <a:rPr lang="es-MX" b="0" dirty="0"/>
              <a:t> de la Ciudad de Buenos Aires</a:t>
            </a:r>
            <a:endParaRPr lang="es-BO" dirty="0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578894"/>
          </a:xfrm>
        </p:spPr>
        <p:txBody>
          <a:bodyPr/>
          <a:lstStyle/>
          <a:p>
            <a:pPr algn="ctr"/>
            <a:r>
              <a:rPr lang="es-MX" sz="4000" b="1" dirty="0"/>
              <a:t>AUDIENCIA Y CONTEXTO</a:t>
            </a:r>
            <a:endParaRPr lang="es-BO" sz="4000" b="1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2"/>
          </p:nvPr>
        </p:nvSpPr>
        <p:spPr>
          <a:xfrm>
            <a:off x="6096000" y="2953311"/>
            <a:ext cx="5671764" cy="2529923"/>
          </a:xfrm>
        </p:spPr>
        <p:txBody>
          <a:bodyPr/>
          <a:lstStyle/>
          <a:p>
            <a:r>
              <a:rPr lang="es-MX" b="0" dirty="0"/>
              <a:t>Desde una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base de datos</a:t>
            </a:r>
            <a:r>
              <a:rPr lang="es-MX" b="0" dirty="0"/>
              <a:t> obtenida de la página web del gobierno de la ciudad de Buenos Aires que contiene los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información</a:t>
            </a:r>
            <a:r>
              <a:rPr lang="es-MX" b="0" dirty="0"/>
              <a:t> correspondiente a los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delitos</a:t>
            </a:r>
            <a:r>
              <a:rPr lang="es-MX" b="0" dirty="0"/>
              <a:t> denunciados en el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año 2022</a:t>
            </a:r>
            <a:r>
              <a:rPr lang="es-MX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MX" b="0" dirty="0"/>
              <a:t>se procederá a hacer un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análisis</a:t>
            </a:r>
            <a:r>
              <a:rPr lang="es-MX" b="0" dirty="0"/>
              <a:t> de los mismos para dar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recomendaciones</a:t>
            </a:r>
            <a:r>
              <a:rPr lang="es-MX" b="0" dirty="0"/>
              <a:t> basadas en estos resultados a las preguntas planteadas.</a:t>
            </a:r>
            <a:endParaRPr lang="es-BO" dirty="0"/>
          </a:p>
        </p:txBody>
      </p:sp>
      <p:sp>
        <p:nvSpPr>
          <p:cNvPr id="12" name="Marcador de texto 7"/>
          <p:cNvSpPr txBox="1">
            <a:spLocks/>
          </p:cNvSpPr>
          <p:nvPr/>
        </p:nvSpPr>
        <p:spPr>
          <a:xfrm>
            <a:off x="6145138" y="2457263"/>
            <a:ext cx="4566001" cy="4801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6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7209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961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1306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7229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/>
              <a:t>Contexto</a:t>
            </a:r>
            <a:endParaRPr lang="es-BO" b="1" dirty="0"/>
          </a:p>
        </p:txBody>
      </p:sp>
      <p:sp>
        <p:nvSpPr>
          <p:cNvPr id="11" name="Marcador de texto 7"/>
          <p:cNvSpPr txBox="1">
            <a:spLocks/>
          </p:cNvSpPr>
          <p:nvPr/>
        </p:nvSpPr>
        <p:spPr>
          <a:xfrm>
            <a:off x="6154662" y="628986"/>
            <a:ext cx="4566001" cy="4801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6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7209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961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1306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7229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tabLst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/>
              <a:t>Audiencia</a:t>
            </a:r>
            <a:endParaRPr lang="es-BO" b="1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3139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7" grpId="0"/>
      <p:bldP spid="10" grpId="0" build="p"/>
      <p:bldP spid="1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304800" y="2472751"/>
            <a:ext cx="4566001" cy="1643527"/>
          </a:xfrm>
        </p:spPr>
        <p:txBody>
          <a:bodyPr/>
          <a:lstStyle/>
          <a:p>
            <a:r>
              <a:rPr lang="es-MX" dirty="0"/>
              <a:t>La base de datos es un archivo .</a:t>
            </a:r>
            <a:r>
              <a:rPr lang="es-MX" dirty="0" err="1"/>
              <a:t>csv</a:t>
            </a:r>
            <a:r>
              <a:rPr lang="es-MX" dirty="0"/>
              <a:t> que tiene como delimitador la “,” y se puede descargar desde este </a:t>
            </a:r>
            <a:r>
              <a:rPr lang="es-MX" dirty="0">
                <a:hlinkClick r:id="rId2"/>
              </a:rPr>
              <a:t>link</a:t>
            </a:r>
            <a:r>
              <a:rPr lang="es-MX" dirty="0"/>
              <a:t>.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5AE1514C-5E56-4738-A1FF-4B1CFD2A3E36}" type="slidenum">
              <a:rPr lang="es-ES" noProof="0" smtClean="0"/>
              <a:pPr rtl="0"/>
              <a:t>6</a:t>
            </a:fld>
            <a:endParaRPr lang="es-ES" noProof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135696"/>
          </a:xfrm>
        </p:spPr>
        <p:txBody>
          <a:bodyPr/>
          <a:lstStyle/>
          <a:p>
            <a:pPr algn="ctr"/>
            <a:r>
              <a:rPr lang="es-MX" sz="4800" b="1" dirty="0"/>
              <a:t>METADATA</a:t>
            </a:r>
            <a:endParaRPr lang="es-BO" b="1" dirty="0"/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75221"/>
              </p:ext>
            </p:extLst>
          </p:nvPr>
        </p:nvGraphicFramePr>
        <p:xfrm>
          <a:off x="5431920" y="208574"/>
          <a:ext cx="6531480" cy="64186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77160">
                  <a:extLst>
                    <a:ext uri="{9D8B030D-6E8A-4147-A177-3AD203B41FA5}">
                      <a16:colId xmlns:a16="http://schemas.microsoft.com/office/drawing/2014/main" val="2485447535"/>
                    </a:ext>
                  </a:extLst>
                </a:gridCol>
                <a:gridCol w="2177160">
                  <a:extLst>
                    <a:ext uri="{9D8B030D-6E8A-4147-A177-3AD203B41FA5}">
                      <a16:colId xmlns:a16="http://schemas.microsoft.com/office/drawing/2014/main" val="2677471459"/>
                    </a:ext>
                  </a:extLst>
                </a:gridCol>
                <a:gridCol w="2177160">
                  <a:extLst>
                    <a:ext uri="{9D8B030D-6E8A-4147-A177-3AD203B41FA5}">
                      <a16:colId xmlns:a16="http://schemas.microsoft.com/office/drawing/2014/main" val="1859436062"/>
                    </a:ext>
                  </a:extLst>
                </a:gridCol>
              </a:tblGrid>
              <a:tr h="5544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/>
                        <a:t>NOMBRE</a:t>
                      </a:r>
                      <a:endParaRPr lang="es-BO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TIPO</a:t>
                      </a:r>
                      <a:endParaRPr lang="es-BO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/>
                        <a:t>DESCRIPCIÓN</a:t>
                      </a:r>
                      <a:endParaRPr lang="es-B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922895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id-mapa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Integer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Id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804187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anio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Integer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Año del</a:t>
                      </a:r>
                      <a:r>
                        <a:rPr lang="es-MX" sz="1200" baseline="0" dirty="0"/>
                        <a:t>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627180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mes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Mes del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547018"/>
                  </a:ext>
                </a:extLst>
              </a:tr>
              <a:tr h="66298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dia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Día de la</a:t>
                      </a:r>
                      <a:r>
                        <a:rPr lang="es-MX" sz="1200" baseline="0" dirty="0"/>
                        <a:t> semana que ocurrió el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760236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fecha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Date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Fecha en la cual ocurrió el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465112"/>
                  </a:ext>
                </a:extLst>
              </a:tr>
              <a:tr h="66298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franja_horaria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Integer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Franja horaria</a:t>
                      </a:r>
                      <a:r>
                        <a:rPr lang="es-MX" sz="1200" baseline="0" dirty="0"/>
                        <a:t> en la que ocurrió el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385019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tipo_delito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Tipo de</a:t>
                      </a:r>
                      <a:r>
                        <a:rPr lang="es-MX" sz="1200" baseline="0" dirty="0"/>
                        <a:t>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550701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subtipo_delito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Subtipo de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810662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uso_arma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Si hubo uso de arma (SI/NO)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071355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uso_moto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Si hubo uso</a:t>
                      </a:r>
                      <a:r>
                        <a:rPr lang="es-MX" sz="1200" baseline="0" dirty="0"/>
                        <a:t> de moto (SI/NO)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069251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barrio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String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Barrio en el</a:t>
                      </a:r>
                      <a:r>
                        <a:rPr lang="es-MX" sz="1200" baseline="0" dirty="0"/>
                        <a:t> que ocurrió el delito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30137"/>
                  </a:ext>
                </a:extLst>
              </a:tr>
              <a:tr h="46408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comuna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Number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Comuna</a:t>
                      </a:r>
                      <a:r>
                        <a:rPr lang="es-MX" sz="1200" baseline="0" dirty="0"/>
                        <a:t> a la que pertenece el barrio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54556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lat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Number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Latitud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174800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long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Number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Longitud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628618"/>
                  </a:ext>
                </a:extLst>
              </a:tr>
              <a:tr h="277226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cantidad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 err="1"/>
                        <a:t>Number</a:t>
                      </a:r>
                      <a:endParaRPr lang="es-BO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Cantidad registrada</a:t>
                      </a:r>
                      <a:endParaRPr lang="es-BO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244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72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9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424732"/>
          </a:xfrm>
        </p:spPr>
        <p:txBody>
          <a:bodyPr rtlCol="0"/>
          <a:lstStyle/>
          <a:p>
            <a:r>
              <a:rPr lang="es-MX" b="0" dirty="0"/>
              <a:t>1. Análisis por delitos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idx="14"/>
          </p:nvPr>
        </p:nvSpPr>
        <p:spPr>
          <a:xfrm>
            <a:off x="4019505" y="2598126"/>
            <a:ext cx="4138732" cy="424732"/>
          </a:xfrm>
        </p:spPr>
        <p:txBody>
          <a:bodyPr rtlCol="0"/>
          <a:lstStyle/>
          <a:p>
            <a:r>
              <a:rPr lang="es-BO" b="0" dirty="0"/>
              <a:t>2. Análisis Geográfico</a:t>
            </a:r>
          </a:p>
        </p:txBody>
      </p:sp>
      <p:sp>
        <p:nvSpPr>
          <p:cNvPr id="18" name="Marcador de contenido 17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424732"/>
          </a:xfrm>
        </p:spPr>
        <p:txBody>
          <a:bodyPr rtlCol="0"/>
          <a:lstStyle/>
          <a:p>
            <a:pPr rtl="0">
              <a:spcAft>
                <a:spcPts val="2400"/>
              </a:spcAft>
            </a:pPr>
            <a:r>
              <a:rPr lang="es-ES" dirty="0"/>
              <a:t>3. Análisis Temporal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228599" y="339408"/>
            <a:ext cx="2574891" cy="646331"/>
          </a:xfrm>
        </p:spPr>
        <p:txBody>
          <a:bodyPr rtlCol="0"/>
          <a:lstStyle/>
          <a:p>
            <a:pPr rtl="0"/>
            <a:r>
              <a:rPr lang="es-ES" sz="4000" b="1" dirty="0"/>
              <a:t>EDA</a:t>
            </a:r>
            <a:endParaRPr lang="es-ES" sz="2800" b="1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6"/>
          </p:nvPr>
        </p:nvSpPr>
        <p:spPr>
          <a:xfrm>
            <a:off x="2879003" y="419100"/>
            <a:ext cx="9084398" cy="757130"/>
          </a:xfrm>
        </p:spPr>
        <p:txBody>
          <a:bodyPr rtlCol="0"/>
          <a:lstStyle/>
          <a:p>
            <a:pPr rtl="0"/>
            <a:r>
              <a:rPr lang="es-ES" dirty="0"/>
              <a:t>El estudio se divide en tres partes que nos darán información para empezar a ver qué está pasando en la ciudad.</a:t>
            </a:r>
          </a:p>
        </p:txBody>
      </p:sp>
      <p:sp>
        <p:nvSpPr>
          <p:cNvPr id="9" name="Rectángulo 8"/>
          <p:cNvSpPr/>
          <p:nvPr/>
        </p:nvSpPr>
        <p:spPr>
          <a:xfrm>
            <a:off x="4397231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5" name="Rectángulo 14"/>
          <p:cNvSpPr/>
          <p:nvPr/>
        </p:nvSpPr>
        <p:spPr>
          <a:xfrm>
            <a:off x="8353136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470512" y="3382066"/>
            <a:ext cx="338328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42" name="Marcador de número de diapositiva 41"/>
          <p:cNvSpPr>
            <a:spLocks noGrp="1"/>
          </p:cNvSpPr>
          <p:nvPr>
            <p:ph type="sldNum" sz="quarter" idx="4"/>
          </p:nvPr>
        </p:nvSpPr>
        <p:spPr>
          <a:xfrm>
            <a:off x="11682114" y="6464808"/>
            <a:ext cx="498402" cy="365125"/>
          </a:xfrm>
        </p:spPr>
        <p:txBody>
          <a:bodyPr rtlCol="0"/>
          <a:lstStyle/>
          <a:p>
            <a:pPr rtl="0"/>
            <a:fld id="{5AE1514C-5E56-4738-A1FF-4B1CFD2A3E36}" type="slidenum">
              <a:rPr lang="es-ES" smtClean="0"/>
              <a:t>7</a:t>
            </a:fld>
            <a:endParaRPr lang="es-ES"/>
          </a:p>
        </p:txBody>
      </p:sp>
      <p:sp>
        <p:nvSpPr>
          <p:cNvPr id="12" name="Marcador de contenido 9"/>
          <p:cNvSpPr txBox="1">
            <a:spLocks/>
          </p:cNvSpPr>
          <p:nvPr/>
        </p:nvSpPr>
        <p:spPr>
          <a:xfrm>
            <a:off x="304800" y="3606466"/>
            <a:ext cx="3714704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1" kern="1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/>
              <a:t>Nos permitirá saber qué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clase de delitos</a:t>
            </a:r>
            <a:r>
              <a:rPr lang="es-ES" dirty="0"/>
              <a:t> son cometidos más comúnmente.</a:t>
            </a:r>
          </a:p>
        </p:txBody>
      </p:sp>
      <p:sp>
        <p:nvSpPr>
          <p:cNvPr id="16" name="Marcador de contenido 10"/>
          <p:cNvSpPr txBox="1">
            <a:spLocks/>
          </p:cNvSpPr>
          <p:nvPr/>
        </p:nvSpPr>
        <p:spPr>
          <a:xfrm>
            <a:off x="4019504" y="3605733"/>
            <a:ext cx="4138732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/>
              <a:t>Nos dará información relevante acerca de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dónde</a:t>
            </a:r>
            <a:r>
              <a:rPr lang="es-ES" dirty="0"/>
              <a:t> ocurren los actos delictivos.</a:t>
            </a:r>
          </a:p>
        </p:txBody>
      </p:sp>
      <p:sp>
        <p:nvSpPr>
          <p:cNvPr id="19" name="Marcador de contenido 17"/>
          <p:cNvSpPr txBox="1">
            <a:spLocks/>
          </p:cNvSpPr>
          <p:nvPr/>
        </p:nvSpPr>
        <p:spPr>
          <a:xfrm>
            <a:off x="8190324" y="3631756"/>
            <a:ext cx="3773077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/>
              <a:t>Nos brindará datos que nos dirán en qué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momento</a:t>
            </a:r>
            <a:r>
              <a:rPr lang="es-ES" dirty="0"/>
              <a:t> se dan más incidentes.</a:t>
            </a:r>
          </a:p>
        </p:txBody>
      </p:sp>
    </p:spTree>
    <p:extLst>
      <p:ext uri="{BB962C8B-B14F-4D97-AF65-F5344CB8AC3E}">
        <p14:creationId xmlns:p14="http://schemas.microsoft.com/office/powerpoint/2010/main" val="31107168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2 -4.44444E-6 L 1.04167E-6 -4.44444E-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3 -4.44444E-6 L 3.95833E-6 -4.44444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932 -4.44444E-6 L -2.5E-6 -4.44444E-6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6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8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uiExpand="1" build="p"/>
      <p:bldP spid="18" grpId="0" uiExpand="1" build="p"/>
      <p:bldP spid="14" grpId="0"/>
      <p:bldP spid="9" grpId="0" animBg="1"/>
      <p:bldP spid="9" grpId="1" animBg="1"/>
      <p:bldP spid="15" grpId="0" animBg="1"/>
      <p:bldP spid="15" grpId="1" animBg="1"/>
      <p:bldP spid="13" grpId="0" animBg="1"/>
      <p:bldP spid="13" grpId="1" animBg="1"/>
      <p:bldP spid="12" grpId="0" uiExpand="1" build="p"/>
      <p:bldP spid="16" grpId="0" uiExpand="1" build="p"/>
      <p:bldP spid="1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302995" y="2516778"/>
            <a:ext cx="11660405" cy="1492144"/>
          </a:xfrm>
        </p:spPr>
        <p:txBody>
          <a:bodyPr rtlCol="0"/>
          <a:lstStyle/>
          <a:p>
            <a:pPr rtl="0"/>
            <a:r>
              <a:rPr lang="es-ES" sz="6600" dirty="0"/>
              <a:t>ANÁLISIS POR DELITO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304801" y="4206240"/>
            <a:ext cx="11658600" cy="424732"/>
          </a:xfrm>
        </p:spPr>
        <p:txBody>
          <a:bodyPr rtlCol="0"/>
          <a:lstStyle/>
          <a:p>
            <a:pPr rtl="0"/>
            <a:r>
              <a:rPr lang="es-ES" dirty="0"/>
              <a:t>Se filtrará por tipo y subtipo de delito.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2"/>
          </p:nvPr>
        </p:nvSpPr>
        <p:spPr>
          <a:xfrm>
            <a:off x="5745911" y="1007413"/>
            <a:ext cx="774572" cy="1200329"/>
          </a:xfrm>
        </p:spPr>
        <p:txBody>
          <a:bodyPr rtlCol="0"/>
          <a:lstStyle/>
          <a:p>
            <a:pPr rtl="0"/>
            <a:r>
              <a:rPr lang="es-E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7079039"/>
      </p:ext>
    </p:extLst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40" name="Marcador de texto 4"/>
          <p:cNvSpPr>
            <a:spLocks noGrp="1"/>
          </p:cNvSpPr>
          <p:nvPr>
            <p:ph type="body" sz="quarter" idx="13"/>
          </p:nvPr>
        </p:nvSpPr>
        <p:spPr>
          <a:xfrm>
            <a:off x="-12888" y="191685"/>
            <a:ext cx="12192000" cy="978729"/>
          </a:xfrm>
        </p:spPr>
        <p:txBody>
          <a:bodyPr rtlCol="0"/>
          <a:lstStyle/>
          <a:p>
            <a:pPr algn="ctr" rtl="0"/>
            <a:r>
              <a:rPr lang="es-ES" b="0" dirty="0">
                <a:solidFill>
                  <a:schemeClr val="tx1"/>
                </a:solidFill>
                <a:latin typeface="+mj-lt"/>
              </a:rPr>
              <a:t>¿Qué tipo de delito se comete más?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683623" y="1445426"/>
            <a:ext cx="10824754" cy="5019955"/>
            <a:chOff x="822960" y="1354350"/>
            <a:chExt cx="10824754" cy="5019955"/>
          </a:xfrm>
        </p:grpSpPr>
        <p:pic>
          <p:nvPicPr>
            <p:cNvPr id="36" name="Imagen 3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960" y="1354350"/>
              <a:ext cx="10824754" cy="50199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8" name="Rectángulo 37"/>
            <p:cNvSpPr/>
            <p:nvPr/>
          </p:nvSpPr>
          <p:spPr>
            <a:xfrm>
              <a:off x="5503818" y="1427483"/>
              <a:ext cx="2055222" cy="283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</p:grpSp>
    </p:spTree>
    <p:extLst>
      <p:ext uri="{BB962C8B-B14F-4D97-AF65-F5344CB8AC3E}">
        <p14:creationId xmlns:p14="http://schemas.microsoft.com/office/powerpoint/2010/main" val="2161256907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40" name="Marcador de texto 4"/>
          <p:cNvSpPr>
            <a:spLocks noGrp="1"/>
          </p:cNvSpPr>
          <p:nvPr>
            <p:ph type="body" sz="quarter" idx="13"/>
          </p:nvPr>
        </p:nvSpPr>
        <p:spPr>
          <a:xfrm>
            <a:off x="0" y="470361"/>
            <a:ext cx="12192000" cy="978729"/>
          </a:xfrm>
        </p:spPr>
        <p:txBody>
          <a:bodyPr rtlCol="0" anchor="t"/>
          <a:lstStyle/>
          <a:p>
            <a:pPr algn="ctr" rtl="0"/>
            <a:r>
              <a:rPr lang="es-ES" b="0" dirty="0">
                <a:solidFill>
                  <a:schemeClr val="tx1"/>
                </a:solidFill>
                <a:latin typeface="+mj-lt"/>
              </a:rPr>
              <a:t>¿Qué subtipo de delito se comete más?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" y="1019176"/>
            <a:ext cx="11042469" cy="5446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5251813" y="1019176"/>
            <a:ext cx="2281646" cy="28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93156492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302995" y="2516778"/>
            <a:ext cx="11660405" cy="1492144"/>
          </a:xfrm>
        </p:spPr>
        <p:txBody>
          <a:bodyPr rtlCol="0"/>
          <a:lstStyle/>
          <a:p>
            <a:r>
              <a:rPr lang="es-ES" sz="6600" dirty="0"/>
              <a:t>ANÁLISIS GEOGRÁFICO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304801" y="4206240"/>
            <a:ext cx="11658600" cy="424732"/>
          </a:xfrm>
        </p:spPr>
        <p:txBody>
          <a:bodyPr rtlCol="0"/>
          <a:lstStyle/>
          <a:p>
            <a:pPr rtl="0"/>
            <a:r>
              <a:rPr lang="es-ES" dirty="0"/>
              <a:t>Se filtrará por barrio.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2"/>
          </p:nvPr>
        </p:nvSpPr>
        <p:spPr>
          <a:xfrm>
            <a:off x="5745911" y="1007413"/>
            <a:ext cx="774571" cy="1200329"/>
          </a:xfrm>
        </p:spPr>
        <p:txBody>
          <a:bodyPr rtlCol="0"/>
          <a:lstStyle/>
          <a:p>
            <a:pPr rtl="0"/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3890462"/>
      </p:ext>
    </p:extLst>
  </p:cSld>
  <p:clrMapOvr>
    <a:masterClrMapping/>
  </p:clrMapOvr>
  <p:transition spd="slow">
    <p:push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6" y="932353"/>
            <a:ext cx="10601529" cy="5533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12</a:t>
            </a:fld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5097684" y="932353"/>
            <a:ext cx="2281646" cy="28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Rectángulo 5"/>
          <p:cNvSpPr/>
          <p:nvPr/>
        </p:nvSpPr>
        <p:spPr>
          <a:xfrm>
            <a:off x="5634446" y="760182"/>
            <a:ext cx="1994263" cy="290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Marcador de texto 4"/>
          <p:cNvSpPr>
            <a:spLocks noGrp="1"/>
          </p:cNvSpPr>
          <p:nvPr>
            <p:ph type="body" sz="quarter" idx="13"/>
          </p:nvPr>
        </p:nvSpPr>
        <p:spPr>
          <a:xfrm>
            <a:off x="0" y="470361"/>
            <a:ext cx="12192000" cy="978729"/>
          </a:xfrm>
        </p:spPr>
        <p:txBody>
          <a:bodyPr rtlCol="0" anchor="t"/>
          <a:lstStyle/>
          <a:p>
            <a:pPr algn="ctr" rtl="0"/>
            <a:r>
              <a:rPr lang="es-ES" b="0" dirty="0">
                <a:solidFill>
                  <a:schemeClr val="tx1"/>
                </a:solidFill>
                <a:latin typeface="+mj-lt"/>
              </a:rPr>
              <a:t>¿En qué barrios se cometen más delitos?</a:t>
            </a:r>
          </a:p>
        </p:txBody>
      </p:sp>
    </p:spTree>
    <p:extLst>
      <p:ext uri="{BB962C8B-B14F-4D97-AF65-F5344CB8AC3E}">
        <p14:creationId xmlns:p14="http://schemas.microsoft.com/office/powerpoint/2010/main" val="280844838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302995" y="2516778"/>
            <a:ext cx="11660405" cy="1492144"/>
          </a:xfrm>
        </p:spPr>
        <p:txBody>
          <a:bodyPr rtlCol="0"/>
          <a:lstStyle/>
          <a:p>
            <a:pPr rtl="0"/>
            <a:r>
              <a:rPr lang="es-ES" sz="6600" dirty="0"/>
              <a:t>ANÁLISIS TEMPORAL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304801" y="4206240"/>
            <a:ext cx="11658600" cy="424732"/>
          </a:xfrm>
        </p:spPr>
        <p:txBody>
          <a:bodyPr rtlCol="0"/>
          <a:lstStyle/>
          <a:p>
            <a:pPr rtl="0"/>
            <a:r>
              <a:rPr lang="es-ES" dirty="0"/>
              <a:t>Se filtrará por mes y por hora del día.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2"/>
          </p:nvPr>
        </p:nvSpPr>
        <p:spPr>
          <a:xfrm>
            <a:off x="5745911" y="1007413"/>
            <a:ext cx="774572" cy="1200329"/>
          </a:xfrm>
        </p:spPr>
        <p:txBody>
          <a:bodyPr rtlCol="0"/>
          <a:lstStyle/>
          <a:p>
            <a:pPr rtl="0"/>
            <a:r>
              <a:rPr lang="es-E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12916969"/>
      </p:ext>
    </p:extLst>
  </p:cSld>
  <p:clrMapOvr>
    <a:masterClrMapping/>
  </p:clrMapOvr>
  <p:transition spd="slow">
    <p:push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14</a:t>
            </a:fld>
            <a:endParaRPr lang="es-ES" dirty="0"/>
          </a:p>
        </p:txBody>
      </p:sp>
      <p:sp>
        <p:nvSpPr>
          <p:cNvPr id="40" name="Marcador de texto 4"/>
          <p:cNvSpPr>
            <a:spLocks noGrp="1"/>
          </p:cNvSpPr>
          <p:nvPr>
            <p:ph type="body" sz="quarter" idx="13"/>
          </p:nvPr>
        </p:nvSpPr>
        <p:spPr>
          <a:xfrm>
            <a:off x="0" y="470361"/>
            <a:ext cx="12192000" cy="978729"/>
          </a:xfrm>
        </p:spPr>
        <p:txBody>
          <a:bodyPr rtlCol="0" anchor="t"/>
          <a:lstStyle/>
          <a:p>
            <a:pPr algn="ctr" rtl="0"/>
            <a:r>
              <a:rPr lang="es-ES" b="0" dirty="0">
                <a:solidFill>
                  <a:schemeClr val="tx1"/>
                </a:solidFill>
                <a:latin typeface="+mj-lt"/>
              </a:rPr>
              <a:t>¿En qué mes se cometen más delitos?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425440" y="1050651"/>
            <a:ext cx="1994263" cy="290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302" y="1195885"/>
            <a:ext cx="7596223" cy="5244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ángulo 3"/>
          <p:cNvSpPr/>
          <p:nvPr/>
        </p:nvSpPr>
        <p:spPr>
          <a:xfrm>
            <a:off x="4886597" y="1213030"/>
            <a:ext cx="2847703" cy="246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45543429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15</a:t>
            </a:fld>
            <a:endParaRPr lang="es-ES" dirty="0"/>
          </a:p>
        </p:txBody>
      </p:sp>
      <p:sp>
        <p:nvSpPr>
          <p:cNvPr id="40" name="Marcador de texto 4"/>
          <p:cNvSpPr>
            <a:spLocks noGrp="1"/>
          </p:cNvSpPr>
          <p:nvPr>
            <p:ph type="body" sz="quarter" idx="13"/>
          </p:nvPr>
        </p:nvSpPr>
        <p:spPr>
          <a:xfrm>
            <a:off x="0" y="470361"/>
            <a:ext cx="12192000" cy="978729"/>
          </a:xfrm>
        </p:spPr>
        <p:txBody>
          <a:bodyPr rtlCol="0" anchor="t"/>
          <a:lstStyle/>
          <a:p>
            <a:pPr algn="ctr" rtl="0"/>
            <a:r>
              <a:rPr lang="es-ES" b="0" dirty="0">
                <a:solidFill>
                  <a:schemeClr val="tx1"/>
                </a:solidFill>
                <a:latin typeface="+mj-lt"/>
              </a:rPr>
              <a:t>¿A qué hora del día se cometen más delitos?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425440" y="1050651"/>
            <a:ext cx="1994263" cy="290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Rectángulo 3"/>
          <p:cNvSpPr/>
          <p:nvPr/>
        </p:nvSpPr>
        <p:spPr>
          <a:xfrm>
            <a:off x="5138056" y="942681"/>
            <a:ext cx="2995749" cy="28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318969"/>
            <a:ext cx="7960514" cy="5107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ángulo 6"/>
          <p:cNvSpPr/>
          <p:nvPr/>
        </p:nvSpPr>
        <p:spPr>
          <a:xfrm>
            <a:off x="3823063" y="1368454"/>
            <a:ext cx="4310742" cy="330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89042531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302995" y="2391508"/>
            <a:ext cx="11660405" cy="1617414"/>
          </a:xfrm>
        </p:spPr>
        <p:txBody>
          <a:bodyPr rtlCol="0"/>
          <a:lstStyle/>
          <a:p>
            <a:pPr rtl="0"/>
            <a:r>
              <a:rPr lang="es-ES" sz="3600" dirty="0"/>
              <a:t>EN EL AÑO 2022 SE REGISTRARON</a:t>
            </a:r>
            <a:r>
              <a:rPr lang="es-ES" sz="3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ES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140871</a:t>
            </a:r>
            <a:r>
              <a:rPr lang="es-ES" sz="3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ES" sz="3600" dirty="0"/>
              <a:t>DENUNCIAS POR HECHOS DE CRIMINALIDAD</a:t>
            </a:r>
            <a:r>
              <a:rPr lang="es-ES" sz="3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1"/>
          </p:nvPr>
        </p:nvSpPr>
        <p:spPr>
          <a:xfrm>
            <a:off x="304801" y="4206240"/>
            <a:ext cx="11658600" cy="424732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29433 </a:t>
            </a:r>
            <a:r>
              <a:rPr lang="es-ES" b="1" dirty="0">
                <a:solidFill>
                  <a:schemeClr val="bg1"/>
                </a:solidFill>
              </a:rPr>
              <a:t>MÁS QUE EN EL AÑO 2021</a:t>
            </a:r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s-ES" dirty="0"/>
              <a:t> 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2"/>
          </p:nvPr>
        </p:nvSpPr>
        <p:spPr>
          <a:xfrm>
            <a:off x="4675202" y="499736"/>
            <a:ext cx="2915991" cy="1200329"/>
          </a:xfrm>
        </p:spPr>
        <p:txBody>
          <a:bodyPr rtlCol="0"/>
          <a:lstStyle/>
          <a:p>
            <a:pPr rtl="0"/>
            <a:r>
              <a:rPr lang="es-ES" dirty="0"/>
              <a:t>DATO</a:t>
            </a:r>
          </a:p>
        </p:txBody>
      </p:sp>
    </p:spTree>
    <p:extLst>
      <p:ext uri="{BB962C8B-B14F-4D97-AF65-F5344CB8AC3E}">
        <p14:creationId xmlns:p14="http://schemas.microsoft.com/office/powerpoint/2010/main" val="324801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>
          <a:xfrm>
            <a:off x="3448777" y="2768600"/>
            <a:ext cx="5208335" cy="1261884"/>
          </a:xfrm>
        </p:spPr>
        <p:txBody>
          <a:bodyPr/>
          <a:lstStyle/>
          <a:p>
            <a:r>
              <a:rPr lang="es-MX" sz="8000" dirty="0"/>
              <a:t>INSIGHTS</a:t>
            </a:r>
            <a:endParaRPr lang="es-BO" sz="8000" dirty="0"/>
          </a:p>
        </p:txBody>
      </p:sp>
    </p:spTree>
    <p:extLst>
      <p:ext uri="{BB962C8B-B14F-4D97-AF65-F5344CB8AC3E}">
        <p14:creationId xmlns:p14="http://schemas.microsoft.com/office/powerpoint/2010/main" val="1616471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658" y="3493674"/>
            <a:ext cx="2377440" cy="1920526"/>
          </a:xfrm>
        </p:spPr>
        <p:txBody>
          <a:bodyPr/>
          <a:lstStyle/>
          <a:p>
            <a:r>
              <a:rPr lang="es-MX" dirty="0"/>
              <a:t>El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robo</a:t>
            </a:r>
            <a:r>
              <a:rPr lang="es-MX" dirty="0"/>
              <a:t> y el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hurto</a:t>
            </a:r>
            <a:r>
              <a:rPr lang="es-MX" dirty="0"/>
              <a:t> son, por mucho, los hechos a los cuales hay que prestarles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más atención</a:t>
            </a:r>
            <a:r>
              <a:rPr lang="es-MX" dirty="0"/>
              <a:t>.</a:t>
            </a:r>
            <a:endParaRPr lang="es-BO" dirty="0"/>
          </a:p>
        </p:txBody>
      </p:sp>
      <p:sp>
        <p:nvSpPr>
          <p:cNvPr id="5" name="Marcador de contenido 4"/>
          <p:cNvSpPr>
            <a:spLocks noGrp="1"/>
          </p:cNvSpPr>
          <p:nvPr>
            <p:ph idx="14"/>
          </p:nvPr>
        </p:nvSpPr>
        <p:spPr>
          <a:xfrm>
            <a:off x="2483635" y="3493674"/>
            <a:ext cx="2377440" cy="2225225"/>
          </a:xfrm>
        </p:spPr>
        <p:txBody>
          <a:bodyPr/>
          <a:lstStyle/>
          <a:p>
            <a:r>
              <a:rPr lang="es-MX" dirty="0"/>
              <a:t>Los barrios de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Palermo</a:t>
            </a:r>
            <a:r>
              <a:rPr lang="es-MX" dirty="0"/>
              <a:t>,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Balvanera</a:t>
            </a:r>
            <a:r>
              <a:rPr lang="es-MX" dirty="0"/>
              <a:t> y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Flores</a:t>
            </a:r>
            <a:r>
              <a:rPr lang="es-MX" dirty="0"/>
              <a:t> registran la mayor cantidad de incidentes</a:t>
            </a:r>
            <a:endParaRPr lang="es-BO" dirty="0"/>
          </a:p>
        </p:txBody>
      </p:sp>
      <p:sp>
        <p:nvSpPr>
          <p:cNvPr id="6" name="Marcador de contenido 5"/>
          <p:cNvSpPr>
            <a:spLocks noGrp="1"/>
          </p:cNvSpPr>
          <p:nvPr>
            <p:ph idx="15"/>
          </p:nvPr>
        </p:nvSpPr>
        <p:spPr>
          <a:xfrm>
            <a:off x="4898612" y="3493674"/>
            <a:ext cx="2377440" cy="1615827"/>
          </a:xfrm>
        </p:spPr>
        <p:txBody>
          <a:bodyPr/>
          <a:lstStyle/>
          <a:p>
            <a:r>
              <a:rPr lang="es-MX" dirty="0"/>
              <a:t>El aumento de eventos que se ve en el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último trimestre del año</a:t>
            </a:r>
            <a:r>
              <a:rPr lang="es-MX" dirty="0"/>
              <a:t>.</a:t>
            </a:r>
            <a:endParaRPr lang="es-BO" dirty="0"/>
          </a:p>
        </p:txBody>
      </p:sp>
      <p:sp>
        <p:nvSpPr>
          <p:cNvPr id="7" name="Marcador de contenido 6"/>
          <p:cNvSpPr>
            <a:spLocks noGrp="1"/>
          </p:cNvSpPr>
          <p:nvPr>
            <p:ph idx="16"/>
          </p:nvPr>
        </p:nvSpPr>
        <p:spPr>
          <a:xfrm>
            <a:off x="7313589" y="3493674"/>
            <a:ext cx="2377440" cy="1615827"/>
          </a:xfrm>
        </p:spPr>
        <p:txBody>
          <a:bodyPr/>
          <a:lstStyle/>
          <a:p>
            <a:r>
              <a:rPr lang="es-MX" dirty="0"/>
              <a:t>En los meses de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enero</a:t>
            </a:r>
            <a:r>
              <a:rPr lang="es-MX" dirty="0"/>
              <a:t>,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febrero</a:t>
            </a:r>
            <a:r>
              <a:rPr lang="es-MX" dirty="0"/>
              <a:t> y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junio</a:t>
            </a:r>
            <a:r>
              <a:rPr lang="es-MX" dirty="0"/>
              <a:t>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baja</a:t>
            </a:r>
            <a:r>
              <a:rPr lang="es-MX" dirty="0"/>
              <a:t> el número de incidentes.</a:t>
            </a:r>
            <a:endParaRPr lang="es-BO" dirty="0"/>
          </a:p>
        </p:txBody>
      </p:sp>
      <p:sp>
        <p:nvSpPr>
          <p:cNvPr id="8" name="Marcador de contenido 7"/>
          <p:cNvSpPr>
            <a:spLocks noGrp="1"/>
          </p:cNvSpPr>
          <p:nvPr>
            <p:ph idx="17"/>
          </p:nvPr>
        </p:nvSpPr>
        <p:spPr>
          <a:xfrm>
            <a:off x="9728566" y="3493674"/>
            <a:ext cx="2377440" cy="1920526"/>
          </a:xfrm>
        </p:spPr>
        <p:txBody>
          <a:bodyPr/>
          <a:lstStyle/>
          <a:p>
            <a:r>
              <a:rPr lang="es-MX" dirty="0"/>
              <a:t>Entre la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8 </a:t>
            </a:r>
            <a:r>
              <a:rPr lang="es-MX" dirty="0" err="1">
                <a:solidFill>
                  <a:schemeClr val="accent4">
                    <a:lumMod val="75000"/>
                  </a:schemeClr>
                </a:solidFill>
              </a:rPr>
              <a:t>hs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MX" dirty="0"/>
              <a:t>y las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20 </a:t>
            </a:r>
            <a:r>
              <a:rPr lang="es-MX" dirty="0" err="1">
                <a:solidFill>
                  <a:schemeClr val="accent4">
                    <a:lumMod val="75000"/>
                  </a:schemeClr>
                </a:solidFill>
              </a:rPr>
              <a:t>hs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MX" dirty="0"/>
              <a:t>se comete el </a:t>
            </a:r>
            <a:r>
              <a:rPr lang="es-MX" dirty="0">
                <a:solidFill>
                  <a:schemeClr val="accent4">
                    <a:lumMod val="75000"/>
                  </a:schemeClr>
                </a:solidFill>
              </a:rPr>
              <a:t>mayor</a:t>
            </a:r>
            <a:r>
              <a:rPr lang="es-MX" dirty="0"/>
              <a:t> número de delitos registrados por día.</a:t>
            </a:r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MX" dirty="0"/>
              <a:t>Esto se encontró después del análisis.</a:t>
            </a:r>
            <a:endParaRPr lang="es-BO" dirty="0"/>
          </a:p>
        </p:txBody>
      </p:sp>
      <p:sp>
        <p:nvSpPr>
          <p:cNvPr id="9" name="Marcador de contenido 8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s-MX" dirty="0"/>
              <a:t>1</a:t>
            </a:r>
            <a:endParaRPr lang="es-BO" dirty="0"/>
          </a:p>
        </p:txBody>
      </p:sp>
      <p:sp>
        <p:nvSpPr>
          <p:cNvPr id="10" name="Marcador de contenido 9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s-MX" dirty="0"/>
              <a:t>2</a:t>
            </a:r>
            <a:endParaRPr lang="es-BO" dirty="0"/>
          </a:p>
        </p:txBody>
      </p:sp>
      <p:sp>
        <p:nvSpPr>
          <p:cNvPr id="11" name="Marcador de contenido 10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s-MX" dirty="0"/>
              <a:t>3</a:t>
            </a:r>
            <a:endParaRPr lang="es-BO" dirty="0"/>
          </a:p>
        </p:txBody>
      </p:sp>
      <p:sp>
        <p:nvSpPr>
          <p:cNvPr id="12" name="Marcador de contenido 11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s-MX" dirty="0"/>
              <a:t>4</a:t>
            </a:r>
            <a:endParaRPr lang="es-BO" dirty="0"/>
          </a:p>
        </p:txBody>
      </p:sp>
      <p:sp>
        <p:nvSpPr>
          <p:cNvPr id="13" name="Marcador de contenido 12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s-MX" dirty="0"/>
              <a:t>5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79321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3923323" y="186061"/>
            <a:ext cx="4376615" cy="535531"/>
          </a:xfrm>
        </p:spPr>
        <p:txBody>
          <a:bodyPr/>
          <a:lstStyle/>
          <a:p>
            <a:r>
              <a:rPr lang="es-MX" sz="3200" dirty="0"/>
              <a:t>¿POR QUÉ ACTUAR?</a:t>
            </a:r>
            <a:endParaRPr lang="es-BO" sz="3200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1"/>
          </p:nvPr>
        </p:nvSpPr>
        <p:spPr>
          <a:xfrm>
            <a:off x="317500" y="2865120"/>
            <a:ext cx="11658600" cy="2751522"/>
          </a:xfrm>
        </p:spPr>
        <p:txBody>
          <a:bodyPr/>
          <a:lstStyle/>
          <a:p>
            <a:r>
              <a:rPr lang="es-MX" dirty="0"/>
              <a:t>Iniciar un operativo para </a:t>
            </a:r>
            <a:r>
              <a:rPr lang="es-MX" b="1" dirty="0">
                <a:solidFill>
                  <a:srgbClr val="FFFF00"/>
                </a:solidFill>
              </a:rPr>
              <a:t>reducir los índices delictivos</a:t>
            </a:r>
            <a:r>
              <a:rPr lang="es-MX" dirty="0"/>
              <a:t> de </a:t>
            </a:r>
            <a:r>
              <a:rPr lang="es-MX" b="1" dirty="0">
                <a:solidFill>
                  <a:srgbClr val="FFFF00"/>
                </a:solidFill>
              </a:rPr>
              <a:t>robo</a:t>
            </a:r>
            <a:r>
              <a:rPr lang="es-MX" dirty="0"/>
              <a:t> y </a:t>
            </a:r>
            <a:r>
              <a:rPr lang="es-MX" b="1" dirty="0">
                <a:solidFill>
                  <a:srgbClr val="FFFF00"/>
                </a:solidFill>
              </a:rPr>
              <a:t>hurto</a:t>
            </a:r>
            <a:r>
              <a:rPr lang="es-MX" dirty="0"/>
              <a:t> en la Ciudad de Buenos Aires es esencial para mejorar la seguridad ciudadana, </a:t>
            </a:r>
            <a:r>
              <a:rPr lang="es-MX" b="1" dirty="0">
                <a:solidFill>
                  <a:srgbClr val="FFFF00"/>
                </a:solidFill>
              </a:rPr>
              <a:t>prevenir</a:t>
            </a:r>
            <a:r>
              <a:rPr lang="es-MX" dirty="0"/>
              <a:t> daños materiales y personales, fomentar la confianza en las instituciones, promover el desarrollo económico y cumplir con el deber de </a:t>
            </a:r>
            <a:r>
              <a:rPr lang="es-MX" b="1" dirty="0">
                <a:solidFill>
                  <a:srgbClr val="FFFF00"/>
                </a:solidFill>
              </a:rPr>
              <a:t>proteger</a:t>
            </a:r>
            <a:r>
              <a:rPr lang="es-MX" dirty="0"/>
              <a:t> a los ciudadanos. Al abordar estos problemas principales de la inseguridad, se crea un ambiente más seguro, se fortalece la percepción de seguridad y se contribuye al </a:t>
            </a:r>
            <a:r>
              <a:rPr lang="es-MX" b="1" dirty="0">
                <a:solidFill>
                  <a:srgbClr val="FFFF00"/>
                </a:solidFill>
              </a:rPr>
              <a:t>bienestar general </a:t>
            </a:r>
            <a:r>
              <a:rPr lang="es-MX" dirty="0"/>
              <a:t>de la población, además de </a:t>
            </a:r>
            <a:r>
              <a:rPr lang="es-MX" b="1" dirty="0">
                <a:solidFill>
                  <a:srgbClr val="FFFF00"/>
                </a:solidFill>
              </a:rPr>
              <a:t>impulsar</a:t>
            </a:r>
            <a:r>
              <a:rPr lang="es-MX" dirty="0"/>
              <a:t> el crecimiento económico y la </a:t>
            </a:r>
            <a:r>
              <a:rPr lang="es-MX" b="1" dirty="0">
                <a:solidFill>
                  <a:srgbClr val="FFFF00"/>
                </a:solidFill>
              </a:rPr>
              <a:t>confianza</a:t>
            </a:r>
            <a:r>
              <a:rPr lang="es-MX" dirty="0"/>
              <a:t> en las autoridades gubernamentales.</a:t>
            </a:r>
            <a:endParaRPr lang="es-BO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</p:spPr>
        <p:txBody>
          <a:bodyPr/>
          <a:lstStyle/>
          <a:p>
            <a:pPr rtl="0"/>
            <a:fld id="{5AE1514C-5E56-4738-A1FF-4B1CFD2A3E36}" type="slidenum">
              <a:rPr lang="es-ES" noProof="0" smtClean="0"/>
              <a:t>19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9717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3923323" y="186061"/>
            <a:ext cx="4376615" cy="535531"/>
          </a:xfrm>
        </p:spPr>
        <p:txBody>
          <a:bodyPr/>
          <a:lstStyle/>
          <a:p>
            <a:r>
              <a:rPr lang="es-MX" sz="3200" dirty="0"/>
              <a:t>¿DÓNDE ACTUAR?</a:t>
            </a:r>
            <a:endParaRPr lang="es-BO" sz="3200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1"/>
          </p:nvPr>
        </p:nvSpPr>
        <p:spPr>
          <a:xfrm>
            <a:off x="317500" y="2865120"/>
            <a:ext cx="11658600" cy="2751522"/>
          </a:xfrm>
        </p:spPr>
        <p:txBody>
          <a:bodyPr/>
          <a:lstStyle/>
          <a:p>
            <a:r>
              <a:rPr lang="es-MX" dirty="0"/>
              <a:t>Los operativos para reducir los índices delictivos deben priorizarse en los barrios con mayor cantidad de denuncias, como </a:t>
            </a:r>
            <a:r>
              <a:rPr lang="es-MX" b="1" dirty="0">
                <a:solidFill>
                  <a:srgbClr val="FFFF00"/>
                </a:solidFill>
              </a:rPr>
              <a:t>Palermo</a:t>
            </a:r>
            <a:r>
              <a:rPr lang="es-MX" dirty="0"/>
              <a:t>, </a:t>
            </a:r>
            <a:r>
              <a:rPr lang="es-MX" b="1" dirty="0">
                <a:solidFill>
                  <a:srgbClr val="FFFF00"/>
                </a:solidFill>
              </a:rPr>
              <a:t>Balvanera</a:t>
            </a:r>
            <a:r>
              <a:rPr lang="es-MX" dirty="0"/>
              <a:t> y </a:t>
            </a:r>
            <a:r>
              <a:rPr lang="es-MX" b="1" dirty="0">
                <a:solidFill>
                  <a:srgbClr val="FFFF00"/>
                </a:solidFill>
              </a:rPr>
              <a:t>Flores</a:t>
            </a:r>
            <a:r>
              <a:rPr lang="es-MX" dirty="0"/>
              <a:t>, ya que estos son los que presentan por lejos el </a:t>
            </a:r>
            <a:r>
              <a:rPr lang="es-MX" b="1" dirty="0">
                <a:solidFill>
                  <a:srgbClr val="FFFF00"/>
                </a:solidFill>
              </a:rPr>
              <a:t>más alto índice de criminalidad</a:t>
            </a:r>
            <a:r>
              <a:rPr lang="es-MX" dirty="0"/>
              <a:t>. Al </a:t>
            </a:r>
            <a:r>
              <a:rPr lang="es-MX" b="1" dirty="0">
                <a:solidFill>
                  <a:srgbClr val="FFFF00"/>
                </a:solidFill>
              </a:rPr>
              <a:t>dirigir</a:t>
            </a:r>
            <a:r>
              <a:rPr lang="es-MX" dirty="0"/>
              <a:t> los </a:t>
            </a:r>
            <a:r>
              <a:rPr lang="es-MX" b="1" dirty="0">
                <a:solidFill>
                  <a:srgbClr val="FFFF00"/>
                </a:solidFill>
              </a:rPr>
              <a:t>esfuerzos</a:t>
            </a:r>
            <a:r>
              <a:rPr lang="es-MX" dirty="0"/>
              <a:t> hacia estas áreas con una carga delictiva más pronunciada, se </a:t>
            </a:r>
            <a:r>
              <a:rPr lang="es-MX" b="1" dirty="0">
                <a:solidFill>
                  <a:srgbClr val="FFFF00"/>
                </a:solidFill>
              </a:rPr>
              <a:t>maximiza el impacto </a:t>
            </a:r>
            <a:r>
              <a:rPr lang="es-MX" dirty="0"/>
              <a:t>de las acciones policiales y se aborda de manera más efectiva la problemática de la inseguridad en la Ciudad de Buenos Aires. Es crucial </a:t>
            </a:r>
            <a:r>
              <a:rPr lang="es-MX" b="1" dirty="0">
                <a:solidFill>
                  <a:srgbClr val="FFFF00"/>
                </a:solidFill>
              </a:rPr>
              <a:t>enfocar los recursos y estrategias </a:t>
            </a:r>
            <a:r>
              <a:rPr lang="es-MX" dirty="0"/>
              <a:t>en donde más se necesitan, priorizando la protección y el bienestar de los residentes de estos barrios..</a:t>
            </a:r>
            <a:endParaRPr lang="es-BO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</p:spPr>
        <p:txBody>
          <a:bodyPr/>
          <a:lstStyle/>
          <a:p>
            <a:pPr rtl="0"/>
            <a:fld id="{5AE1514C-5E56-4738-A1FF-4B1CFD2A3E36}" type="slidenum">
              <a:rPr lang="es-ES" noProof="0" smtClean="0"/>
              <a:t>20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9069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3923323" y="186061"/>
            <a:ext cx="4376615" cy="535531"/>
          </a:xfrm>
        </p:spPr>
        <p:txBody>
          <a:bodyPr/>
          <a:lstStyle/>
          <a:p>
            <a:r>
              <a:rPr lang="es-MX" sz="3200" dirty="0"/>
              <a:t>¿CUÁNDO ACTUAR?</a:t>
            </a:r>
            <a:endParaRPr lang="es-BO" sz="3200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1"/>
          </p:nvPr>
        </p:nvSpPr>
        <p:spPr>
          <a:xfrm>
            <a:off x="317500" y="2865120"/>
            <a:ext cx="11658600" cy="3083921"/>
          </a:xfrm>
        </p:spPr>
        <p:txBody>
          <a:bodyPr/>
          <a:lstStyle/>
          <a:p>
            <a:r>
              <a:rPr lang="es-MX" dirty="0"/>
              <a:t>Las acciones para reducir los índices delictivos deben estar enfocadas en mayor medida durante los </a:t>
            </a:r>
            <a:r>
              <a:rPr lang="es-MX" b="1" dirty="0">
                <a:solidFill>
                  <a:srgbClr val="FFFF00"/>
                </a:solidFill>
              </a:rPr>
              <a:t>períodos de mayor actividad criminal</a:t>
            </a:r>
            <a:r>
              <a:rPr lang="es-MX" dirty="0"/>
              <a:t>, que comprenden de </a:t>
            </a:r>
            <a:r>
              <a:rPr lang="es-MX" b="1" dirty="0">
                <a:solidFill>
                  <a:srgbClr val="FFFF00"/>
                </a:solidFill>
              </a:rPr>
              <a:t>8 a 20 horas</a:t>
            </a:r>
            <a:r>
              <a:rPr lang="es-MX" dirty="0"/>
              <a:t> y </a:t>
            </a:r>
            <a:r>
              <a:rPr lang="es-MX" b="1" dirty="0">
                <a:solidFill>
                  <a:srgbClr val="FFFF00"/>
                </a:solidFill>
              </a:rPr>
              <a:t>de octubre a diciembre</a:t>
            </a:r>
            <a:r>
              <a:rPr lang="es-MX" dirty="0"/>
              <a:t>. Estos son los momentos en los que se registra un aumento significativo de hechos delictivos, por lo que resulta fundamental </a:t>
            </a:r>
            <a:r>
              <a:rPr lang="es-MX" b="1" dirty="0">
                <a:solidFill>
                  <a:srgbClr val="FFFF00"/>
                </a:solidFill>
              </a:rPr>
              <a:t>intensificar la presencia policial</a:t>
            </a:r>
            <a:r>
              <a:rPr lang="es-MX" dirty="0"/>
              <a:t>, implementar medidas preventivas y llevar a cabo operativos específicos durante estas franjas horarias y épocas del año. Al </a:t>
            </a:r>
            <a:r>
              <a:rPr lang="es-MX" b="1" dirty="0">
                <a:solidFill>
                  <a:srgbClr val="FFFF00"/>
                </a:solidFill>
              </a:rPr>
              <a:t>concentrar los esfuerzos </a:t>
            </a:r>
            <a:r>
              <a:rPr lang="es-MX" dirty="0"/>
              <a:t>en los períodos de mayor incidencia delictiva, se puede </a:t>
            </a:r>
            <a:r>
              <a:rPr lang="es-MX" b="1" dirty="0">
                <a:solidFill>
                  <a:srgbClr val="FFFF00"/>
                </a:solidFill>
              </a:rPr>
              <a:t>mejorar la eficacia </a:t>
            </a:r>
            <a:r>
              <a:rPr lang="es-MX" dirty="0"/>
              <a:t>de las acciones policiales y </a:t>
            </a:r>
            <a:r>
              <a:rPr lang="es-MX" b="1" dirty="0">
                <a:solidFill>
                  <a:srgbClr val="FFFF00"/>
                </a:solidFill>
              </a:rPr>
              <a:t>reducir</a:t>
            </a:r>
            <a:r>
              <a:rPr lang="es-MX" dirty="0"/>
              <a:t> de manera más efectiva la </a:t>
            </a:r>
            <a:r>
              <a:rPr lang="es-MX" b="1" dirty="0">
                <a:solidFill>
                  <a:srgbClr val="FFFF00"/>
                </a:solidFill>
              </a:rPr>
              <a:t>criminalidad</a:t>
            </a:r>
            <a:r>
              <a:rPr lang="es-MX" dirty="0"/>
              <a:t> en la Ciudad de Buenos Aires.</a:t>
            </a:r>
            <a:endParaRPr lang="es-BO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</p:spPr>
        <p:txBody>
          <a:bodyPr/>
          <a:lstStyle/>
          <a:p>
            <a:pPr rtl="0"/>
            <a:fld id="{5AE1514C-5E56-4738-A1FF-4B1CFD2A3E36}" type="slidenum">
              <a:rPr lang="es-ES" noProof="0" smtClean="0"/>
              <a:t>21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4380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317967" y="3090225"/>
            <a:ext cx="5677988" cy="618631"/>
          </a:xfrm>
        </p:spPr>
        <p:txBody>
          <a:bodyPr/>
          <a:lstStyle/>
          <a:p>
            <a:r>
              <a:rPr lang="es-MX" sz="3600" dirty="0"/>
              <a:t>RECOMENDACIONES</a:t>
            </a:r>
            <a:endParaRPr lang="es-BO" sz="3600" dirty="0"/>
          </a:p>
        </p:txBody>
      </p:sp>
    </p:spTree>
    <p:extLst>
      <p:ext uri="{BB962C8B-B14F-4D97-AF65-F5344CB8AC3E}">
        <p14:creationId xmlns:p14="http://schemas.microsoft.com/office/powerpoint/2010/main" val="3112947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2" t="3816" r="17816" b="2310"/>
          <a:stretch/>
        </p:blipFill>
        <p:spPr>
          <a:xfrm>
            <a:off x="26126" y="-35858"/>
            <a:ext cx="6195380" cy="6614550"/>
          </a:xfrm>
          <a:prstGeom prst="rect">
            <a:avLst/>
          </a:prstGeom>
        </p:spPr>
      </p:pic>
      <p:sp>
        <p:nvSpPr>
          <p:cNvPr id="9" name="Marcador de texto 8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2751522"/>
          </a:xfrm>
        </p:spPr>
        <p:txBody>
          <a:bodyPr/>
          <a:lstStyle/>
          <a:p>
            <a:r>
              <a:rPr lang="es-MX" sz="2400" dirty="0"/>
              <a:t>Como el robo y el hurto fueron los delitos con más número de denuncias, una campaña que concientice a las personas de las modalidades con las que se cometen esta clase de hechos y qué medidas tomar para tratar de no ser víctimas de los mismos sería de gran ayuda para proteger a la población.</a:t>
            </a:r>
            <a:endParaRPr lang="es-BO" sz="2400" dirty="0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90931"/>
          </a:xfrm>
        </p:spPr>
        <p:txBody>
          <a:bodyPr/>
          <a:lstStyle/>
          <a:p>
            <a:r>
              <a:rPr lang="es-MX" dirty="0"/>
              <a:t>Campañas de concientización</a:t>
            </a:r>
            <a:endParaRPr lang="es-BO" dirty="0"/>
          </a:p>
        </p:txBody>
      </p:sp>
      <p:sp>
        <p:nvSpPr>
          <p:cNvPr id="10" name="Marcador de contenido 9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s-MX" dirty="0"/>
              <a:t>1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380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2" r="25112"/>
          <a:stretch>
            <a:fillRect/>
          </a:stretch>
        </p:blipFill>
        <p:spPr/>
      </p:pic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3083921"/>
          </a:xfrm>
        </p:spPr>
        <p:txBody>
          <a:bodyPr/>
          <a:lstStyle/>
          <a:p>
            <a:r>
              <a:rPr lang="es-MX" dirty="0"/>
              <a:t>Aumentar la presencia de funcionarios de los organismos de seguridad en los lugares y momentos donde se incrementan la cantidad de denuncias.</a:t>
            </a:r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1089529"/>
          </a:xfrm>
        </p:spPr>
        <p:txBody>
          <a:bodyPr/>
          <a:lstStyle/>
          <a:p>
            <a:r>
              <a:rPr lang="es-MX" dirty="0"/>
              <a:t>Aumento discriminado de la presencia policial</a:t>
            </a:r>
            <a:endParaRPr lang="es-BO" dirty="0"/>
          </a:p>
        </p:txBody>
      </p:sp>
      <p:sp>
        <p:nvSpPr>
          <p:cNvPr id="5" name="Marcador de contenido 4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s-MX" dirty="0"/>
              <a:t>2</a:t>
            </a:r>
            <a:endParaRPr lang="es-B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4997E989-D798-4C62-8E93-3D2D613C2488}" type="slidenum">
              <a:rPr lang="es-ES" noProof="0" smtClean="0"/>
              <a:pPr rtl="0"/>
              <a:t>24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656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número de diapositiva 1"/>
          <p:cNvSpPr>
            <a:spLocks noGrp="1"/>
          </p:cNvSpPr>
          <p:nvPr>
            <p:ph type="sldNum" sz="quarter" idx="4"/>
          </p:nvPr>
        </p:nvSpPr>
        <p:spPr>
          <a:xfrm>
            <a:off x="11757415" y="6483147"/>
            <a:ext cx="431425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5AE1514C-5E56-4738-A1FF-4B1CFD2A3E36}" type="slidenum">
              <a:rPr lang="es-ES" smtClean="0"/>
              <a:pPr rtl="0"/>
              <a:t>25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3408362" y="5335071"/>
            <a:ext cx="8097838" cy="369332"/>
          </a:xfrm>
        </p:spPr>
        <p:txBody>
          <a:bodyPr rtlCol="0"/>
          <a:lstStyle/>
          <a:p>
            <a:r>
              <a:rPr lang="es-ES" dirty="0"/>
              <a:t>— </a:t>
            </a:r>
            <a:r>
              <a:rPr lang="es-BO" b="0" dirty="0"/>
              <a:t>ALBERTO MASFERRER</a:t>
            </a:r>
            <a:endParaRPr lang="es-ES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3"/>
          </p:nvPr>
        </p:nvSpPr>
        <p:spPr>
          <a:xfrm>
            <a:off x="304800" y="2884236"/>
            <a:ext cx="11658600" cy="1089529"/>
          </a:xfrm>
        </p:spPr>
        <p:txBody>
          <a:bodyPr rtlCol="0"/>
          <a:lstStyle/>
          <a:p>
            <a:r>
              <a:rPr lang="es-MX" cap="all" dirty="0"/>
              <a:t>“Frente al crimen, el Estado no debe tener más que una actitud, y es la guerra.”</a:t>
            </a:r>
            <a:r>
              <a:rPr lang="es-ES" cap="al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731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 rtlCol="0"/>
          <a:lstStyle/>
          <a:p>
            <a:pPr rtl="0"/>
            <a:r>
              <a:rPr lang="es-ES" dirty="0"/>
              <a:t>¿Preguntas?</a:t>
            </a:r>
          </a:p>
        </p:txBody>
      </p:sp>
      <p:sp>
        <p:nvSpPr>
          <p:cNvPr id="4" name="Título 6">
            <a:extLst>
              <a:ext uri="{FF2B5EF4-FFF2-40B4-BE49-F238E27FC236}">
                <a16:creationId xmlns:a16="http://schemas.microsoft.com/office/drawing/2014/main" id="{34BDD74C-5263-464C-AA3C-D945D23978FF}"/>
              </a:ext>
            </a:extLst>
          </p:cNvPr>
          <p:cNvSpPr txBox="1">
            <a:spLocks/>
          </p:cNvSpPr>
          <p:nvPr/>
        </p:nvSpPr>
        <p:spPr>
          <a:xfrm>
            <a:off x="4433852" y="4256429"/>
            <a:ext cx="5756957" cy="927824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5" name="Cuadro de texto 4">
            <a:hlinkClick r:id="rId3"/>
            <a:extLst>
              <a:ext uri="{FF2B5EF4-FFF2-40B4-BE49-F238E27FC236}">
                <a16:creationId xmlns:a16="http://schemas.microsoft.com/office/drawing/2014/main" id="{8B99DC0F-548E-4A58-81EB-85144506AC7B}"/>
              </a:ext>
            </a:extLst>
          </p:cNvPr>
          <p:cNvSpPr txBox="1"/>
          <p:nvPr/>
        </p:nvSpPr>
        <p:spPr>
          <a:xfrm>
            <a:off x="9005881" y="6316156"/>
            <a:ext cx="2584436" cy="36787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rtl="0"/>
            <a:r>
              <a:rPr lang="es-ES" sz="1100">
                <a:solidFill>
                  <a:schemeClr val="tx1"/>
                </a:solidFill>
              </a:rPr>
              <a:t>Neal Creative | haga clic e </a:t>
            </a:r>
            <a:r>
              <a:rPr lang="es-ES" sz="1100" b="1">
                <a:solidFill>
                  <a:schemeClr val="tx1"/>
                </a:solidFill>
              </a:rPr>
              <a:t>infórmese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E70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1212507" y="200392"/>
            <a:ext cx="905251" cy="90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2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laboración de narraciones con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8384586_TF16401425" id="{A0BFA57C-CA01-4D86-B64B-36A23B323118}" vid="{57825D5E-ED4A-443E-95CA-6E98F1C75A89}"/>
    </a:ext>
  </a:extLst>
</a:theme>
</file>

<file path=ppt/theme/theme2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2E6351-E64A-42DD-A554-7DF752222129}">
  <ds:schemaRefs>
    <ds:schemaRef ds:uri="http://purl.org/dc/elements/1.1/"/>
    <ds:schemaRef ds:uri="71af3243-3dd4-4a8d-8c0d-dd76da1f02a5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30CA71C-6B24-463C-853F-076A02E2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C2FF92-1ACE-4D23-9586-85906FF02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0</TotalTime>
  <Words>1236</Words>
  <Application>Microsoft Office PowerPoint</Application>
  <PresentationFormat>Panorámica</PresentationFormat>
  <Paragraphs>164</Paragraphs>
  <Slides>26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Segoe UI</vt:lpstr>
      <vt:lpstr>Segoe UI Black</vt:lpstr>
      <vt:lpstr>Segoe UI Semibold</vt:lpstr>
      <vt:lpstr>Segoe UI Semilight</vt:lpstr>
      <vt:lpstr>Wingdings</vt:lpstr>
      <vt:lpstr>Elaboración de narraciones con Neal Creative</vt:lpstr>
      <vt:lpstr>¡CRIMINALIDAD</vt:lpstr>
      <vt:lpstr>Presentación de PowerPoint</vt:lpstr>
      <vt:lpstr>ÍNDICE</vt:lpstr>
      <vt:lpstr>RESUMEN</vt:lpstr>
      <vt:lpstr>AUDIENCIA Y CONTEXTO</vt:lpstr>
      <vt:lpstr>METADATA</vt:lpstr>
      <vt:lpstr>EDA</vt:lpstr>
      <vt:lpstr>ANÁLISIS POR DELITO</vt:lpstr>
      <vt:lpstr>Presentación de PowerPoint</vt:lpstr>
      <vt:lpstr>Presentación de PowerPoint</vt:lpstr>
      <vt:lpstr>ANÁLISIS GEOGRÁFICO</vt:lpstr>
      <vt:lpstr>Presentación de PowerPoint</vt:lpstr>
      <vt:lpstr>ANÁLISIS TEMPORAL</vt:lpstr>
      <vt:lpstr>Presentación de PowerPoint</vt:lpstr>
      <vt:lpstr>Presentación de PowerPoint</vt:lpstr>
      <vt:lpstr>EN EL AÑO 2022 SE REGISTRARON 140871 DENUNCIAS POR HECHOS DE CRIMINALIDAD.</vt:lpstr>
      <vt:lpstr>INSIGHTS</vt:lpstr>
      <vt:lpstr>Presentación de PowerPoint</vt:lpstr>
      <vt:lpstr>Presentación de PowerPoint</vt:lpstr>
      <vt:lpstr>Presentación de PowerPoint</vt:lpstr>
      <vt:lpstr>Presentación de PowerPoint</vt:lpstr>
      <vt:lpstr>RECOMENDACIONES</vt:lpstr>
      <vt:lpstr>Presentación de PowerPoint</vt:lpstr>
      <vt:lpstr>Presentación de PowerPoint</vt:lpstr>
      <vt:lpstr>Presentación de PowerPoint</vt:lpstr>
      <vt:lpstr>¿Preguntas?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2024-04-03T22:34:10Z</dcterms:created>
  <dcterms:modified xsi:type="dcterms:W3CDTF">2025-10-20T22:52:01Z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